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9" r:id="rId4"/>
    <p:sldId id="265" r:id="rId5"/>
    <p:sldId id="260" r:id="rId6"/>
    <p:sldId id="261" r:id="rId7"/>
    <p:sldId id="263" r:id="rId8"/>
    <p:sldId id="266" r:id="rId9"/>
    <p:sldId id="262"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5B0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AC9189-C456-48A6-AB49-513FCB0953D5}" v="8" dt="2024-10-23T19:14:01.8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0" d="100"/>
          <a:sy n="70" d="100"/>
        </p:scale>
        <p:origin x="53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Jim Liddle" userId="facd9740-55e9-4bfc-bc47-ec06808f1a6b" providerId="ADAL" clId="{88AC9189-C456-48A6-AB49-513FCB0953D5}"/>
    <pc:docChg chg="undo custSel modSld">
      <pc:chgData name="Mr. Jim Liddle" userId="facd9740-55e9-4bfc-bc47-ec06808f1a6b" providerId="ADAL" clId="{88AC9189-C456-48A6-AB49-513FCB0953D5}" dt="2024-10-23T20:11:29.783" v="2620" actId="20577"/>
      <pc:docMkLst>
        <pc:docMk/>
      </pc:docMkLst>
      <pc:sldChg chg="modSp mod">
        <pc:chgData name="Mr. Jim Liddle" userId="facd9740-55e9-4bfc-bc47-ec06808f1a6b" providerId="ADAL" clId="{88AC9189-C456-48A6-AB49-513FCB0953D5}" dt="2024-10-23T20:11:29.783" v="2620" actId="20577"/>
        <pc:sldMkLst>
          <pc:docMk/>
          <pc:sldMk cId="1266532899" sldId="256"/>
        </pc:sldMkLst>
        <pc:spChg chg="mod">
          <ac:chgData name="Mr. Jim Liddle" userId="facd9740-55e9-4bfc-bc47-ec06808f1a6b" providerId="ADAL" clId="{88AC9189-C456-48A6-AB49-513FCB0953D5}" dt="2024-10-23T20:11:29.783" v="2620" actId="20577"/>
          <ac:spMkLst>
            <pc:docMk/>
            <pc:sldMk cId="1266532899" sldId="256"/>
            <ac:spMk id="3" creationId="{6789DAB8-0171-45B9-8D1A-F39EBF583654}"/>
          </ac:spMkLst>
        </pc:spChg>
      </pc:sldChg>
      <pc:sldChg chg="modSp mod">
        <pc:chgData name="Mr. Jim Liddle" userId="facd9740-55e9-4bfc-bc47-ec06808f1a6b" providerId="ADAL" clId="{88AC9189-C456-48A6-AB49-513FCB0953D5}" dt="2024-10-23T18:11:26.678" v="1903" actId="1035"/>
        <pc:sldMkLst>
          <pc:docMk/>
          <pc:sldMk cId="3335855826" sldId="259"/>
        </pc:sldMkLst>
        <pc:spChg chg="mod">
          <ac:chgData name="Mr. Jim Liddle" userId="facd9740-55e9-4bfc-bc47-ec06808f1a6b" providerId="ADAL" clId="{88AC9189-C456-48A6-AB49-513FCB0953D5}" dt="2024-10-23T18:11:13.836" v="1884" actId="20577"/>
          <ac:spMkLst>
            <pc:docMk/>
            <pc:sldMk cId="3335855826" sldId="259"/>
            <ac:spMk id="3" creationId="{BCDDB8F6-ADA0-0E80-3091-C67F284A9287}"/>
          </ac:spMkLst>
        </pc:spChg>
        <pc:spChg chg="mod">
          <ac:chgData name="Mr. Jim Liddle" userId="facd9740-55e9-4bfc-bc47-ec06808f1a6b" providerId="ADAL" clId="{88AC9189-C456-48A6-AB49-513FCB0953D5}" dt="2024-10-23T17:41:21.407" v="932" actId="20577"/>
          <ac:spMkLst>
            <pc:docMk/>
            <pc:sldMk cId="3335855826" sldId="259"/>
            <ac:spMk id="7" creationId="{DCDABD07-0117-47FD-8EE4-C82C35DFCECA}"/>
          </ac:spMkLst>
        </pc:spChg>
        <pc:picChg chg="mod">
          <ac:chgData name="Mr. Jim Liddle" userId="facd9740-55e9-4bfc-bc47-ec06808f1a6b" providerId="ADAL" clId="{88AC9189-C456-48A6-AB49-513FCB0953D5}" dt="2024-10-23T18:11:26.678" v="1903" actId="1035"/>
          <ac:picMkLst>
            <pc:docMk/>
            <pc:sldMk cId="3335855826" sldId="259"/>
            <ac:picMk id="4" creationId="{307F9FC6-0BCA-473F-8CB4-4A881F42C093}"/>
          </ac:picMkLst>
        </pc:picChg>
      </pc:sldChg>
      <pc:sldChg chg="modSp mod">
        <pc:chgData name="Mr. Jim Liddle" userId="facd9740-55e9-4bfc-bc47-ec06808f1a6b" providerId="ADAL" clId="{88AC9189-C456-48A6-AB49-513FCB0953D5}" dt="2024-10-23T18:09:42.287" v="1826" actId="20577"/>
        <pc:sldMkLst>
          <pc:docMk/>
          <pc:sldMk cId="4016600954" sldId="260"/>
        </pc:sldMkLst>
        <pc:spChg chg="mod">
          <ac:chgData name="Mr. Jim Liddle" userId="facd9740-55e9-4bfc-bc47-ec06808f1a6b" providerId="ADAL" clId="{88AC9189-C456-48A6-AB49-513FCB0953D5}" dt="2024-10-23T17:40:54.522" v="916" actId="20577"/>
          <ac:spMkLst>
            <pc:docMk/>
            <pc:sldMk cId="4016600954" sldId="260"/>
            <ac:spMk id="61" creationId="{EED152AE-291B-4F58-A315-5DF232005D9C}"/>
          </ac:spMkLst>
        </pc:spChg>
        <pc:spChg chg="mod">
          <ac:chgData name="Mr. Jim Liddle" userId="facd9740-55e9-4bfc-bc47-ec06808f1a6b" providerId="ADAL" clId="{88AC9189-C456-48A6-AB49-513FCB0953D5}" dt="2024-10-23T18:09:42.287" v="1826" actId="20577"/>
          <ac:spMkLst>
            <pc:docMk/>
            <pc:sldMk cId="4016600954" sldId="260"/>
            <ac:spMk id="62" creationId="{416C427B-D14A-4F61-B6B5-4BF31DA4B482}"/>
          </ac:spMkLst>
        </pc:spChg>
      </pc:sldChg>
      <pc:sldChg chg="modSp mod">
        <pc:chgData name="Mr. Jim Liddle" userId="facd9740-55e9-4bfc-bc47-ec06808f1a6b" providerId="ADAL" clId="{88AC9189-C456-48A6-AB49-513FCB0953D5}" dt="2024-10-23T18:09:22.167" v="1805" actId="20577"/>
        <pc:sldMkLst>
          <pc:docMk/>
          <pc:sldMk cId="958186350" sldId="261"/>
        </pc:sldMkLst>
        <pc:spChg chg="mod">
          <ac:chgData name="Mr. Jim Liddle" userId="facd9740-55e9-4bfc-bc47-ec06808f1a6b" providerId="ADAL" clId="{88AC9189-C456-48A6-AB49-513FCB0953D5}" dt="2024-10-23T17:40:45.340" v="912" actId="20577"/>
          <ac:spMkLst>
            <pc:docMk/>
            <pc:sldMk cId="958186350" sldId="261"/>
            <ac:spMk id="6" creationId="{21F1FE33-A172-44A9-A7B3-B559AA4D1186}"/>
          </ac:spMkLst>
        </pc:spChg>
        <pc:spChg chg="mod">
          <ac:chgData name="Mr. Jim Liddle" userId="facd9740-55e9-4bfc-bc47-ec06808f1a6b" providerId="ADAL" clId="{88AC9189-C456-48A6-AB49-513FCB0953D5}" dt="2024-10-23T18:09:22.167" v="1805" actId="20577"/>
          <ac:spMkLst>
            <pc:docMk/>
            <pc:sldMk cId="958186350" sldId="261"/>
            <ac:spMk id="7" creationId="{D431904D-ADBC-45AA-B616-57CF70B20307}"/>
          </ac:spMkLst>
        </pc:spChg>
      </pc:sldChg>
      <pc:sldChg chg="modSp mod">
        <pc:chgData name="Mr. Jim Liddle" userId="facd9740-55e9-4bfc-bc47-ec06808f1a6b" providerId="ADAL" clId="{88AC9189-C456-48A6-AB49-513FCB0953D5}" dt="2024-10-23T18:09:07.959" v="1780" actId="20577"/>
        <pc:sldMkLst>
          <pc:docMk/>
          <pc:sldMk cId="745718114" sldId="262"/>
        </pc:sldMkLst>
        <pc:spChg chg="mod">
          <ac:chgData name="Mr. Jim Liddle" userId="facd9740-55e9-4bfc-bc47-ec06808f1a6b" providerId="ADAL" clId="{88AC9189-C456-48A6-AB49-513FCB0953D5}" dt="2024-10-23T17:41:37.335" v="936" actId="20577"/>
          <ac:spMkLst>
            <pc:docMk/>
            <pc:sldMk cId="745718114" sldId="262"/>
            <ac:spMk id="6" creationId="{21F1FE33-A172-44A9-A7B3-B559AA4D1186}"/>
          </ac:spMkLst>
        </pc:spChg>
        <pc:spChg chg="mod">
          <ac:chgData name="Mr. Jim Liddle" userId="facd9740-55e9-4bfc-bc47-ec06808f1a6b" providerId="ADAL" clId="{88AC9189-C456-48A6-AB49-513FCB0953D5}" dt="2024-10-23T18:09:07.959" v="1780" actId="20577"/>
          <ac:spMkLst>
            <pc:docMk/>
            <pc:sldMk cId="745718114" sldId="262"/>
            <ac:spMk id="10" creationId="{FCAC1081-E1DC-4D91-BA5C-1CFFD43D0001}"/>
          </ac:spMkLst>
        </pc:spChg>
      </pc:sldChg>
      <pc:sldChg chg="modSp mod">
        <pc:chgData name="Mr. Jim Liddle" userId="facd9740-55e9-4bfc-bc47-ec06808f1a6b" providerId="ADAL" clId="{88AC9189-C456-48A6-AB49-513FCB0953D5}" dt="2024-10-23T18:07:31.391" v="1717" actId="14861"/>
        <pc:sldMkLst>
          <pc:docMk/>
          <pc:sldMk cId="585577713" sldId="263"/>
        </pc:sldMkLst>
        <pc:spChg chg="mod">
          <ac:chgData name="Mr. Jim Liddle" userId="facd9740-55e9-4bfc-bc47-ec06808f1a6b" providerId="ADAL" clId="{88AC9189-C456-48A6-AB49-513FCB0953D5}" dt="2024-10-23T17:40:36.597" v="899" actId="6549"/>
          <ac:spMkLst>
            <pc:docMk/>
            <pc:sldMk cId="585577713" sldId="263"/>
            <ac:spMk id="29" creationId="{E1AF4E2F-CCF6-499A-9B64-41B0B4222C50}"/>
          </ac:spMkLst>
        </pc:spChg>
        <pc:spChg chg="mod">
          <ac:chgData name="Mr. Jim Liddle" userId="facd9740-55e9-4bfc-bc47-ec06808f1a6b" providerId="ADAL" clId="{88AC9189-C456-48A6-AB49-513FCB0953D5}" dt="2024-10-23T18:07:31.391" v="1717" actId="14861"/>
          <ac:spMkLst>
            <pc:docMk/>
            <pc:sldMk cId="585577713" sldId="263"/>
            <ac:spMk id="30" creationId="{C020FCC9-A22B-4AF4-9055-6E43DC1E880A}"/>
          </ac:spMkLst>
        </pc:spChg>
        <pc:picChg chg="mod">
          <ac:chgData name="Mr. Jim Liddle" userId="facd9740-55e9-4bfc-bc47-ec06808f1a6b" providerId="ADAL" clId="{88AC9189-C456-48A6-AB49-513FCB0953D5}" dt="2024-10-23T18:06:08.404" v="1694" actId="1076"/>
          <ac:picMkLst>
            <pc:docMk/>
            <pc:sldMk cId="585577713" sldId="263"/>
            <ac:picMk id="28" creationId="{86710583-8C5D-4DE7-A220-C0970A5D983E}"/>
          </ac:picMkLst>
        </pc:picChg>
      </pc:sldChg>
      <pc:sldChg chg="modSp mod">
        <pc:chgData name="Mr. Jim Liddle" userId="facd9740-55e9-4bfc-bc47-ec06808f1a6b" providerId="ADAL" clId="{88AC9189-C456-48A6-AB49-513FCB0953D5}" dt="2024-10-23T18:12:10.690" v="1938" actId="20577"/>
        <pc:sldMkLst>
          <pc:docMk/>
          <pc:sldMk cId="4290754894" sldId="265"/>
        </pc:sldMkLst>
        <pc:spChg chg="mod">
          <ac:chgData name="Mr. Jim Liddle" userId="facd9740-55e9-4bfc-bc47-ec06808f1a6b" providerId="ADAL" clId="{88AC9189-C456-48A6-AB49-513FCB0953D5}" dt="2024-10-23T17:41:13.567" v="928" actId="1076"/>
          <ac:spMkLst>
            <pc:docMk/>
            <pc:sldMk cId="4290754894" sldId="265"/>
            <ac:spMk id="6" creationId="{2AF9D314-C9F2-4174-BC8A-41AD5E0208BC}"/>
          </ac:spMkLst>
        </pc:spChg>
        <pc:spChg chg="mod">
          <ac:chgData name="Mr. Jim Liddle" userId="facd9740-55e9-4bfc-bc47-ec06808f1a6b" providerId="ADAL" clId="{88AC9189-C456-48A6-AB49-513FCB0953D5}" dt="2024-10-23T18:12:10.690" v="1938" actId="20577"/>
          <ac:spMkLst>
            <pc:docMk/>
            <pc:sldMk cId="4290754894" sldId="265"/>
            <ac:spMk id="7" creationId="{1A87A649-DEF4-404A-84FC-81B250841A38}"/>
          </ac:spMkLst>
        </pc:spChg>
      </pc:sldChg>
      <pc:sldChg chg="modSp mod">
        <pc:chgData name="Mr. Jim Liddle" userId="facd9740-55e9-4bfc-bc47-ec06808f1a6b" providerId="ADAL" clId="{88AC9189-C456-48A6-AB49-513FCB0953D5}" dt="2024-10-23T18:08:52.122" v="1759" actId="20577"/>
        <pc:sldMkLst>
          <pc:docMk/>
          <pc:sldMk cId="3111836972" sldId="266"/>
        </pc:sldMkLst>
        <pc:spChg chg="mod">
          <ac:chgData name="Mr. Jim Liddle" userId="facd9740-55e9-4bfc-bc47-ec06808f1a6b" providerId="ADAL" clId="{88AC9189-C456-48A6-AB49-513FCB0953D5}" dt="2024-10-23T17:40:29.730" v="894" actId="20577"/>
          <ac:spMkLst>
            <pc:docMk/>
            <pc:sldMk cId="3111836972" sldId="266"/>
            <ac:spMk id="6" creationId="{21F1FE33-A172-44A9-A7B3-B559AA4D1186}"/>
          </ac:spMkLst>
        </pc:spChg>
        <pc:spChg chg="mod">
          <ac:chgData name="Mr. Jim Liddle" userId="facd9740-55e9-4bfc-bc47-ec06808f1a6b" providerId="ADAL" clId="{88AC9189-C456-48A6-AB49-513FCB0953D5}" dt="2024-10-23T18:08:52.122" v="1759" actId="20577"/>
          <ac:spMkLst>
            <pc:docMk/>
            <pc:sldMk cId="3111836972" sldId="266"/>
            <ac:spMk id="7" creationId="{D431904D-ADBC-45AA-B616-57CF70B20307}"/>
          </ac:spMkLst>
        </pc:spChg>
      </pc:sldChg>
      <pc:sldChg chg="addSp delSp modSp mod">
        <pc:chgData name="Mr. Jim Liddle" userId="facd9740-55e9-4bfc-bc47-ec06808f1a6b" providerId="ADAL" clId="{88AC9189-C456-48A6-AB49-513FCB0953D5}" dt="2024-10-23T19:15:46.553" v="2614" actId="1076"/>
        <pc:sldMkLst>
          <pc:docMk/>
          <pc:sldMk cId="3024904278" sldId="267"/>
        </pc:sldMkLst>
        <pc:spChg chg="mod">
          <ac:chgData name="Mr. Jim Liddle" userId="facd9740-55e9-4bfc-bc47-ec06808f1a6b" providerId="ADAL" clId="{88AC9189-C456-48A6-AB49-513FCB0953D5}" dt="2024-10-23T17:42:26.431" v="965" actId="1076"/>
          <ac:spMkLst>
            <pc:docMk/>
            <pc:sldMk cId="3024904278" sldId="267"/>
            <ac:spMk id="2" creationId="{9EE4849B-DCFE-EC9E-558F-48F97D40AB7C}"/>
          </ac:spMkLst>
        </pc:spChg>
        <pc:spChg chg="del">
          <ac:chgData name="Mr. Jim Liddle" userId="facd9740-55e9-4bfc-bc47-ec06808f1a6b" providerId="ADAL" clId="{88AC9189-C456-48A6-AB49-513FCB0953D5}" dt="2024-10-23T17:26:23.615" v="240" actId="478"/>
          <ac:spMkLst>
            <pc:docMk/>
            <pc:sldMk cId="3024904278" sldId="267"/>
            <ac:spMk id="3" creationId="{9F19E1B6-6E48-32FE-6768-783ED6E8845B}"/>
          </ac:spMkLst>
        </pc:spChg>
        <pc:spChg chg="add mod">
          <ac:chgData name="Mr. Jim Liddle" userId="facd9740-55e9-4bfc-bc47-ec06808f1a6b" providerId="ADAL" clId="{88AC9189-C456-48A6-AB49-513FCB0953D5}" dt="2024-10-23T17:42:37.136" v="968" actId="1076"/>
          <ac:spMkLst>
            <pc:docMk/>
            <pc:sldMk cId="3024904278" sldId="267"/>
            <ac:spMk id="4" creationId="{EDDA5CD2-7E12-81AF-11D7-E940A01674B0}"/>
          </ac:spMkLst>
        </pc:spChg>
        <pc:spChg chg="add del mod">
          <ac:chgData name="Mr. Jim Liddle" userId="facd9740-55e9-4bfc-bc47-ec06808f1a6b" providerId="ADAL" clId="{88AC9189-C456-48A6-AB49-513FCB0953D5}" dt="2024-10-23T17:26:17.112" v="237" actId="478"/>
          <ac:spMkLst>
            <pc:docMk/>
            <pc:sldMk cId="3024904278" sldId="267"/>
            <ac:spMk id="5" creationId="{F3780E3C-60DA-8564-02F2-71E6D60AF82D}"/>
          </ac:spMkLst>
        </pc:spChg>
        <pc:spChg chg="add del mod">
          <ac:chgData name="Mr. Jim Liddle" userId="facd9740-55e9-4bfc-bc47-ec06808f1a6b" providerId="ADAL" clId="{88AC9189-C456-48A6-AB49-513FCB0953D5}" dt="2024-10-23T17:26:19.218" v="239" actId="478"/>
          <ac:spMkLst>
            <pc:docMk/>
            <pc:sldMk cId="3024904278" sldId="267"/>
            <ac:spMk id="6" creationId="{7360838A-2A11-68FF-5E6A-E6F304D76717}"/>
          </ac:spMkLst>
        </pc:spChg>
        <pc:spChg chg="add mod">
          <ac:chgData name="Mr. Jim Liddle" userId="facd9740-55e9-4bfc-bc47-ec06808f1a6b" providerId="ADAL" clId="{88AC9189-C456-48A6-AB49-513FCB0953D5}" dt="2024-10-23T19:15:39.460" v="2613" actId="207"/>
          <ac:spMkLst>
            <pc:docMk/>
            <pc:sldMk cId="3024904278" sldId="267"/>
            <ac:spMk id="9" creationId="{7C806ECF-0DDE-0E09-2096-FEB76F8EFC7D}"/>
          </ac:spMkLst>
        </pc:spChg>
        <pc:spChg chg="add del mod">
          <ac:chgData name="Mr. Jim Liddle" userId="facd9740-55e9-4bfc-bc47-ec06808f1a6b" providerId="ADAL" clId="{88AC9189-C456-48A6-AB49-513FCB0953D5}" dt="2024-10-23T18:06:57.003" v="1711" actId="478"/>
          <ac:spMkLst>
            <pc:docMk/>
            <pc:sldMk cId="3024904278" sldId="267"/>
            <ac:spMk id="10" creationId="{3B669954-24C9-3E89-C4C5-8A9B46717CF5}"/>
          </ac:spMkLst>
        </pc:spChg>
        <pc:spChg chg="add mod">
          <ac:chgData name="Mr. Jim Liddle" userId="facd9740-55e9-4bfc-bc47-ec06808f1a6b" providerId="ADAL" clId="{88AC9189-C456-48A6-AB49-513FCB0953D5}" dt="2024-10-23T18:16:37.684" v="2429" actId="5793"/>
          <ac:spMkLst>
            <pc:docMk/>
            <pc:sldMk cId="3024904278" sldId="267"/>
            <ac:spMk id="11" creationId="{AA065905-0CE6-CBE1-7522-2F4D57E63DB1}"/>
          </ac:spMkLst>
        </pc:spChg>
        <pc:spChg chg="add del">
          <ac:chgData name="Mr. Jim Liddle" userId="facd9740-55e9-4bfc-bc47-ec06808f1a6b" providerId="ADAL" clId="{88AC9189-C456-48A6-AB49-513FCB0953D5}" dt="2024-10-23T18:18:19.276" v="2438" actId="11529"/>
          <ac:spMkLst>
            <pc:docMk/>
            <pc:sldMk cId="3024904278" sldId="267"/>
            <ac:spMk id="12" creationId="{8296B5DA-0D28-64D1-C578-A10C8CDD21AC}"/>
          </ac:spMkLst>
        </pc:spChg>
        <pc:spChg chg="add mod">
          <ac:chgData name="Mr. Jim Liddle" userId="facd9740-55e9-4bfc-bc47-ec06808f1a6b" providerId="ADAL" clId="{88AC9189-C456-48A6-AB49-513FCB0953D5}" dt="2024-10-23T19:15:46.553" v="2614" actId="1076"/>
          <ac:spMkLst>
            <pc:docMk/>
            <pc:sldMk cId="3024904278" sldId="267"/>
            <ac:spMk id="13" creationId="{232E7CDD-EE6B-92DD-8C02-5B9B03A384BB}"/>
          </ac:spMkLst>
        </pc:spChg>
        <pc:spChg chg="add mod">
          <ac:chgData name="Mr. Jim Liddle" userId="facd9740-55e9-4bfc-bc47-ec06808f1a6b" providerId="ADAL" clId="{88AC9189-C456-48A6-AB49-513FCB0953D5}" dt="2024-10-23T19:14:45.004" v="2533" actId="1076"/>
          <ac:spMkLst>
            <pc:docMk/>
            <pc:sldMk cId="3024904278" sldId="267"/>
            <ac:spMk id="14" creationId="{2ACBC7B0-5848-1343-EFD1-2DD7BEC48313}"/>
          </ac:spMkLst>
        </pc:spChg>
        <pc:graphicFrameChg chg="add mod modGraphic">
          <ac:chgData name="Mr. Jim Liddle" userId="facd9740-55e9-4bfc-bc47-ec06808f1a6b" providerId="ADAL" clId="{88AC9189-C456-48A6-AB49-513FCB0953D5}" dt="2024-10-23T18:00:35.535" v="1331" actId="20577"/>
          <ac:graphicFrameMkLst>
            <pc:docMk/>
            <pc:sldMk cId="3024904278" sldId="267"/>
            <ac:graphicFrameMk id="8" creationId="{7736BE60-F642-C5B9-F563-529729625D99}"/>
          </ac:graphicFrameMkLst>
        </pc:graphicFrameChg>
        <pc:picChg chg="add mod">
          <ac:chgData name="Mr. Jim Liddle" userId="facd9740-55e9-4bfc-bc47-ec06808f1a6b" providerId="ADAL" clId="{88AC9189-C456-48A6-AB49-513FCB0953D5}" dt="2024-10-23T17:44:08.926" v="995" actId="1076"/>
          <ac:picMkLst>
            <pc:docMk/>
            <pc:sldMk cId="3024904278" sldId="267"/>
            <ac:picMk id="7" creationId="{01C180F4-93D7-8561-2037-66A2740CFB3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53575-3F44-43D7-910B-AD0799D0D1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4AB311-1205-41C5-A615-E4A91B9F66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AA30A-3AD0-4404-B5CB-030507B985B9}"/>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5" name="Footer Placeholder 4">
            <a:extLst>
              <a:ext uri="{FF2B5EF4-FFF2-40B4-BE49-F238E27FC236}">
                <a16:creationId xmlns:a16="http://schemas.microsoft.com/office/drawing/2014/main" id="{B1EC6200-8A96-4E60-AB8B-38001B4518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05F20-2F5F-4996-AEA1-8181F4E3FE1F}"/>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2925118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E3CC-324A-4292-8AAF-3307CAA91A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27EA85-B6D5-448E-9970-555C9F997F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70118-9BE2-4A2B-98FA-F4C361882124}"/>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5" name="Footer Placeholder 4">
            <a:extLst>
              <a:ext uri="{FF2B5EF4-FFF2-40B4-BE49-F238E27FC236}">
                <a16:creationId xmlns:a16="http://schemas.microsoft.com/office/drawing/2014/main" id="{1B35AA54-5331-4881-BD3D-878BB47C8F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952EC2-7534-42AD-B66A-CF5F1458E62D}"/>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837760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0B00-4910-4D1C-BB3B-AB3BBCC3AB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AF93FF-8650-417F-8792-3644867322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832302-835E-4760-9648-A6E7B9767B9D}"/>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5" name="Footer Placeholder 4">
            <a:extLst>
              <a:ext uri="{FF2B5EF4-FFF2-40B4-BE49-F238E27FC236}">
                <a16:creationId xmlns:a16="http://schemas.microsoft.com/office/drawing/2014/main" id="{3FE1089B-7425-4E5C-B694-D5C13C910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2F7F77-EEBB-4F10-9A6D-7644B1069DC9}"/>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412945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5B6D-0983-4EE2-A5C4-476AD61758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D5D4E-BC0D-44C5-929F-239116B9C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3E1713-7BEF-4AA1-B2F7-B3EDE54EA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008A88-6FD0-40BC-B08D-03E96F2821E5}"/>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6" name="Footer Placeholder 5">
            <a:extLst>
              <a:ext uri="{FF2B5EF4-FFF2-40B4-BE49-F238E27FC236}">
                <a16:creationId xmlns:a16="http://schemas.microsoft.com/office/drawing/2014/main" id="{03039FD8-95A2-4C9D-A95A-44C12118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A2AF6-0E5E-49FC-9635-691D77415222}"/>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780182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2EEE-A136-434C-A3A9-9EA6167B8C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27CA9C-538E-4B5C-97C0-8C7F2DD049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2BB6FF-0D8A-4EAC-B07B-C0A695EC33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90B53E-B250-4C4C-8A5F-48DBC47E53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832BB0-C89A-4D42-A0AE-5BF8B2929C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B7AA94-B2EE-4F73-98C8-64E67F3EB0E8}"/>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8" name="Footer Placeholder 7">
            <a:extLst>
              <a:ext uri="{FF2B5EF4-FFF2-40B4-BE49-F238E27FC236}">
                <a16:creationId xmlns:a16="http://schemas.microsoft.com/office/drawing/2014/main" id="{9F34F3B6-8DF7-46E6-8912-58922E5B8A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E7C811-D977-4067-8161-5FD2887A8D8F}"/>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3087761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0622-0313-4CFE-A182-6345DC5915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7B1105-2ADC-4B67-BD96-1E3845260A7E}"/>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4" name="Footer Placeholder 3">
            <a:extLst>
              <a:ext uri="{FF2B5EF4-FFF2-40B4-BE49-F238E27FC236}">
                <a16:creationId xmlns:a16="http://schemas.microsoft.com/office/drawing/2014/main" id="{1BA4B44D-8AAF-4B10-BC85-773F3925F7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0709D9-F1B8-4380-BCDE-69C60FE0E15C}"/>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2304770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F67860-9D9B-4517-8843-BD5A3E121AE2}"/>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3" name="Footer Placeholder 2">
            <a:extLst>
              <a:ext uri="{FF2B5EF4-FFF2-40B4-BE49-F238E27FC236}">
                <a16:creationId xmlns:a16="http://schemas.microsoft.com/office/drawing/2014/main" id="{284209E0-700A-4C3C-94E0-061723ADCA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424CBE-91EF-4360-977C-44C69959BAD4}"/>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2029082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61655-2021-44ED-96E5-AF1874B47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4B3E81-1FB7-45FA-8EC2-0F7A171B5B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E86FEB-F798-409A-9F95-ACD74EECB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16C32-C166-4A73-B467-1E2F7BF61235}"/>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6" name="Footer Placeholder 5">
            <a:extLst>
              <a:ext uri="{FF2B5EF4-FFF2-40B4-BE49-F238E27FC236}">
                <a16:creationId xmlns:a16="http://schemas.microsoft.com/office/drawing/2014/main" id="{FB773E99-86AE-42F7-83D1-F41146C08E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21CAF0-B321-4077-AAE8-484679F90827}"/>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2253456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F32D-4CCC-4CF4-9939-C2D24FF5E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F932E-8C8D-40C8-B92C-A4F9B7C89E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80CE0F-2E8F-4E5C-BF47-7436F0D080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357064-9333-45F1-BC11-DEB9C8F8399E}"/>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6" name="Footer Placeholder 5">
            <a:extLst>
              <a:ext uri="{FF2B5EF4-FFF2-40B4-BE49-F238E27FC236}">
                <a16:creationId xmlns:a16="http://schemas.microsoft.com/office/drawing/2014/main" id="{0243EA7A-6B6A-4007-9327-9D5D7D0E25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B3EF50-36E7-4CAD-BCF0-DFE17B5FA460}"/>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211810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6BB0-0FBE-4DFA-A951-6066866E3B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EBD76B-1138-4F74-BEA5-9F00BF2BC3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044EA1-33D9-4457-A242-83A5830EB225}"/>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5" name="Footer Placeholder 4">
            <a:extLst>
              <a:ext uri="{FF2B5EF4-FFF2-40B4-BE49-F238E27FC236}">
                <a16:creationId xmlns:a16="http://schemas.microsoft.com/office/drawing/2014/main" id="{1E39B514-DA4C-425B-B515-E456A410F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4208D8-FC6C-4BE8-B698-58945E623FDE}"/>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3572896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DC415-3D5D-48DA-ADBC-9D87D2BD91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4A53B3-4231-403D-8D01-0251CBB048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5A37D-0F39-42E3-811D-0346CFF1D26C}"/>
              </a:ext>
            </a:extLst>
          </p:cNvPr>
          <p:cNvSpPr>
            <a:spLocks noGrp="1"/>
          </p:cNvSpPr>
          <p:nvPr>
            <p:ph type="dt" sz="half" idx="10"/>
          </p:nvPr>
        </p:nvSpPr>
        <p:spPr/>
        <p:txBody>
          <a:bodyPr/>
          <a:lstStyle/>
          <a:p>
            <a:fld id="{DB53A5C9-B6F7-4E05-B95D-EB60843A1507}" type="datetimeFigureOut">
              <a:rPr lang="en-US" smtClean="0"/>
              <a:t>10/23/2024</a:t>
            </a:fld>
            <a:endParaRPr lang="en-US"/>
          </a:p>
        </p:txBody>
      </p:sp>
      <p:sp>
        <p:nvSpPr>
          <p:cNvPr id="5" name="Footer Placeholder 4">
            <a:extLst>
              <a:ext uri="{FF2B5EF4-FFF2-40B4-BE49-F238E27FC236}">
                <a16:creationId xmlns:a16="http://schemas.microsoft.com/office/drawing/2014/main" id="{9F6CA0A0-604B-465A-B251-F5778C41F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75815E-F11E-448F-8D9F-4F30A116938E}"/>
              </a:ext>
            </a:extLst>
          </p:cNvPr>
          <p:cNvSpPr>
            <a:spLocks noGrp="1"/>
          </p:cNvSpPr>
          <p:nvPr>
            <p:ph type="sldNum" sz="quarter" idx="12"/>
          </p:nvPr>
        </p:nvSpPr>
        <p:spPr/>
        <p:txBody>
          <a:bodyPr/>
          <a:lstStyle/>
          <a:p>
            <a:fld id="{29BEE053-9D71-4F2B-A40E-E23F0DEEE34C}" type="slidenum">
              <a:rPr lang="en-US" smtClean="0"/>
              <a:t>‹#›</a:t>
            </a:fld>
            <a:endParaRPr lang="en-US"/>
          </a:p>
        </p:txBody>
      </p:sp>
    </p:spTree>
    <p:extLst>
      <p:ext uri="{BB962C8B-B14F-4D97-AF65-F5344CB8AC3E}">
        <p14:creationId xmlns:p14="http://schemas.microsoft.com/office/powerpoint/2010/main" val="25469633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4AF94A-B73F-4BF0-8FB8-AB4E1E90B2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1A374A-394B-4EF8-945B-56C763BD00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2BE69-195F-4876-B342-8CE5B9E9B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53A5C9-B6F7-4E05-B95D-EB60843A1507}" type="datetimeFigureOut">
              <a:rPr lang="en-US" smtClean="0"/>
              <a:t>10/23/2024</a:t>
            </a:fld>
            <a:endParaRPr lang="en-US"/>
          </a:p>
        </p:txBody>
      </p:sp>
      <p:sp>
        <p:nvSpPr>
          <p:cNvPr id="5" name="Footer Placeholder 4">
            <a:extLst>
              <a:ext uri="{FF2B5EF4-FFF2-40B4-BE49-F238E27FC236}">
                <a16:creationId xmlns:a16="http://schemas.microsoft.com/office/drawing/2014/main" id="{52FB1D64-6C36-451A-8797-42DF97CEE2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9D3194-60FE-4399-9970-4A3F89FF4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BEE053-9D71-4F2B-A40E-E23F0DEEE34C}" type="slidenum">
              <a:rPr lang="en-US" smtClean="0"/>
              <a:t>‹#›</a:t>
            </a:fld>
            <a:endParaRPr lang="en-US"/>
          </a:p>
        </p:txBody>
      </p:sp>
    </p:spTree>
    <p:extLst>
      <p:ext uri="{BB962C8B-B14F-4D97-AF65-F5344CB8AC3E}">
        <p14:creationId xmlns:p14="http://schemas.microsoft.com/office/powerpoint/2010/main" val="3406116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tif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package" Target="../embeddings/Microsoft_Excel_Worksheet.xlsx"/><Relationship Id="rId3" Type="http://schemas.openxmlformats.org/officeDocument/2006/relationships/image" Target="../media/image7.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E8A6E-43A9-4F86-A7D1-61758E7B1FFA}"/>
              </a:ext>
            </a:extLst>
          </p:cNvPr>
          <p:cNvSpPr>
            <a:spLocks noGrp="1"/>
          </p:cNvSpPr>
          <p:nvPr>
            <p:ph type="ctrTitle"/>
          </p:nvPr>
        </p:nvSpPr>
        <p:spPr/>
        <p:txBody>
          <a:bodyPr>
            <a:normAutofit/>
          </a:bodyPr>
          <a:lstStyle/>
          <a:p>
            <a:r>
              <a:rPr lang="en-US" dirty="0"/>
              <a:t>Analytic Framework </a:t>
            </a:r>
            <a:br>
              <a:rPr lang="en-US" dirty="0"/>
            </a:br>
            <a:r>
              <a:rPr lang="en-US" dirty="0"/>
              <a:t>Templates</a:t>
            </a:r>
          </a:p>
        </p:txBody>
      </p:sp>
      <p:sp>
        <p:nvSpPr>
          <p:cNvPr id="3" name="Subtitle 2">
            <a:extLst>
              <a:ext uri="{FF2B5EF4-FFF2-40B4-BE49-F238E27FC236}">
                <a16:creationId xmlns:a16="http://schemas.microsoft.com/office/drawing/2014/main" id="{6789DAB8-0171-45B9-8D1A-F39EBF583654}"/>
              </a:ext>
            </a:extLst>
          </p:cNvPr>
          <p:cNvSpPr>
            <a:spLocks noGrp="1"/>
          </p:cNvSpPr>
          <p:nvPr>
            <p:ph type="subTitle" idx="1"/>
          </p:nvPr>
        </p:nvSpPr>
        <p:spPr>
          <a:xfrm>
            <a:off x="1524000" y="3602037"/>
            <a:ext cx="9144000" cy="1221753"/>
          </a:xfrm>
        </p:spPr>
        <p:txBody>
          <a:bodyPr/>
          <a:lstStyle/>
          <a:p>
            <a:r>
              <a:rPr lang="en-US" dirty="0"/>
              <a:t>Revision: 10 23 2024</a:t>
            </a:r>
          </a:p>
          <a:p>
            <a:r>
              <a:rPr lang="en-US" dirty="0"/>
              <a:t>Instructor: Mr. Jim Liddle</a:t>
            </a:r>
          </a:p>
          <a:p>
            <a:endParaRPr lang="en-US" dirty="0"/>
          </a:p>
        </p:txBody>
      </p:sp>
    </p:spTree>
    <p:extLst>
      <p:ext uri="{BB962C8B-B14F-4D97-AF65-F5344CB8AC3E}">
        <p14:creationId xmlns:p14="http://schemas.microsoft.com/office/powerpoint/2010/main" val="1266532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10FC-C428-4FB1-8EA9-545F6A2BE0D3}"/>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06A2A451-2FE1-427B-9610-E1275021EFD9}"/>
              </a:ext>
            </a:extLst>
          </p:cNvPr>
          <p:cNvSpPr>
            <a:spLocks noGrp="1"/>
          </p:cNvSpPr>
          <p:nvPr>
            <p:ph idx="1"/>
          </p:nvPr>
        </p:nvSpPr>
        <p:spPr>
          <a:xfrm>
            <a:off x="838199" y="1478153"/>
            <a:ext cx="10711043" cy="4351338"/>
          </a:xfrm>
        </p:spPr>
        <p:txBody>
          <a:bodyPr/>
          <a:lstStyle/>
          <a:p>
            <a:r>
              <a:rPr lang="en-US" dirty="0"/>
              <a:t>I recommend making your figures in this PowerPoint file.  Then: 1. </a:t>
            </a:r>
            <a:r>
              <a:rPr lang="en-US" u="sng" dirty="0"/>
              <a:t>copy from power point</a:t>
            </a:r>
            <a:r>
              <a:rPr lang="en-US" dirty="0"/>
              <a:t> and 2. </a:t>
            </a:r>
            <a:r>
              <a:rPr lang="en-US" u="sng" dirty="0"/>
              <a:t>Paste as a picture</a:t>
            </a:r>
            <a:r>
              <a:rPr lang="en-US" dirty="0"/>
              <a:t> into your word document.</a:t>
            </a:r>
          </a:p>
        </p:txBody>
      </p:sp>
      <p:pic>
        <p:nvPicPr>
          <p:cNvPr id="5" name="Picture 4">
            <a:extLst>
              <a:ext uri="{FF2B5EF4-FFF2-40B4-BE49-F238E27FC236}">
                <a16:creationId xmlns:a16="http://schemas.microsoft.com/office/drawing/2014/main" id="{1BC8B07B-E6F2-4E78-8E11-A2A63FD20F19}"/>
              </a:ext>
            </a:extLst>
          </p:cNvPr>
          <p:cNvPicPr>
            <a:picLocks noChangeAspect="1"/>
          </p:cNvPicPr>
          <p:nvPr/>
        </p:nvPicPr>
        <p:blipFill rotWithShape="1">
          <a:blip r:embed="rId2"/>
          <a:srcRect l="36975" t="27819" r="36893" b="-1"/>
          <a:stretch/>
        </p:blipFill>
        <p:spPr>
          <a:xfrm>
            <a:off x="6387092" y="3108961"/>
            <a:ext cx="5524863" cy="3165892"/>
          </a:xfrm>
          <a:prstGeom prst="rect">
            <a:avLst/>
          </a:prstGeom>
        </p:spPr>
      </p:pic>
      <p:pic>
        <p:nvPicPr>
          <p:cNvPr id="6" name="Picture 5">
            <a:extLst>
              <a:ext uri="{FF2B5EF4-FFF2-40B4-BE49-F238E27FC236}">
                <a16:creationId xmlns:a16="http://schemas.microsoft.com/office/drawing/2014/main" id="{81EFBB60-253F-4E1A-A190-F03989625FAB}"/>
              </a:ext>
            </a:extLst>
          </p:cNvPr>
          <p:cNvPicPr>
            <a:picLocks noChangeAspect="1"/>
          </p:cNvPicPr>
          <p:nvPr/>
        </p:nvPicPr>
        <p:blipFill rotWithShape="1">
          <a:blip r:embed="rId3"/>
          <a:srcRect l="63225" t="109" b="-1"/>
          <a:stretch/>
        </p:blipFill>
        <p:spPr>
          <a:xfrm>
            <a:off x="642757" y="3108961"/>
            <a:ext cx="5618282" cy="3165892"/>
          </a:xfrm>
          <a:prstGeom prst="rect">
            <a:avLst/>
          </a:prstGeom>
        </p:spPr>
      </p:pic>
      <p:sp>
        <p:nvSpPr>
          <p:cNvPr id="7" name="Oval 6">
            <a:extLst>
              <a:ext uri="{FF2B5EF4-FFF2-40B4-BE49-F238E27FC236}">
                <a16:creationId xmlns:a16="http://schemas.microsoft.com/office/drawing/2014/main" id="{33CEF9FB-3A59-4369-B8CE-49E2379B67E5}"/>
              </a:ext>
            </a:extLst>
          </p:cNvPr>
          <p:cNvSpPr/>
          <p:nvPr/>
        </p:nvSpPr>
        <p:spPr>
          <a:xfrm>
            <a:off x="2953512" y="4727448"/>
            <a:ext cx="521208" cy="121643"/>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B4A9527-AC64-49CA-B11F-4C50C74DC47D}"/>
              </a:ext>
            </a:extLst>
          </p:cNvPr>
          <p:cNvSpPr/>
          <p:nvPr/>
        </p:nvSpPr>
        <p:spPr>
          <a:xfrm>
            <a:off x="9337964" y="4599709"/>
            <a:ext cx="221672" cy="17449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364578D-715C-4F41-A653-25C5C0727CC0}"/>
              </a:ext>
            </a:extLst>
          </p:cNvPr>
          <p:cNvSpPr txBox="1"/>
          <p:nvPr/>
        </p:nvSpPr>
        <p:spPr>
          <a:xfrm>
            <a:off x="9448800" y="4273942"/>
            <a:ext cx="369454" cy="369332"/>
          </a:xfrm>
          <a:prstGeom prst="rect">
            <a:avLst/>
          </a:prstGeom>
          <a:noFill/>
        </p:spPr>
        <p:txBody>
          <a:bodyPr wrap="square" rtlCol="0">
            <a:spAutoFit/>
          </a:bodyPr>
          <a:lstStyle/>
          <a:p>
            <a:r>
              <a:rPr lang="en-US" b="1" dirty="0">
                <a:solidFill>
                  <a:srgbClr val="FF0000"/>
                </a:solidFill>
              </a:rPr>
              <a:t>2.</a:t>
            </a:r>
          </a:p>
        </p:txBody>
      </p:sp>
      <p:sp>
        <p:nvSpPr>
          <p:cNvPr id="10" name="TextBox 9">
            <a:extLst>
              <a:ext uri="{FF2B5EF4-FFF2-40B4-BE49-F238E27FC236}">
                <a16:creationId xmlns:a16="http://schemas.microsoft.com/office/drawing/2014/main" id="{450A934C-4D49-4347-9D11-FB9572FA8A94}"/>
              </a:ext>
            </a:extLst>
          </p:cNvPr>
          <p:cNvSpPr txBox="1"/>
          <p:nvPr/>
        </p:nvSpPr>
        <p:spPr>
          <a:xfrm>
            <a:off x="2631993" y="4404871"/>
            <a:ext cx="369454" cy="369332"/>
          </a:xfrm>
          <a:prstGeom prst="rect">
            <a:avLst/>
          </a:prstGeom>
          <a:noFill/>
        </p:spPr>
        <p:txBody>
          <a:bodyPr wrap="square" rtlCol="0">
            <a:spAutoFit/>
          </a:bodyPr>
          <a:lstStyle/>
          <a:p>
            <a:r>
              <a:rPr lang="en-US" b="1" dirty="0">
                <a:solidFill>
                  <a:srgbClr val="FF0000"/>
                </a:solidFill>
              </a:rPr>
              <a:t>1.</a:t>
            </a:r>
          </a:p>
        </p:txBody>
      </p:sp>
    </p:spTree>
    <p:extLst>
      <p:ext uri="{BB962C8B-B14F-4D97-AF65-F5344CB8AC3E}">
        <p14:creationId xmlns:p14="http://schemas.microsoft.com/office/powerpoint/2010/main" val="2991524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90A7-B86C-459B-8F5F-D4E33C1D8757}"/>
              </a:ext>
            </a:extLst>
          </p:cNvPr>
          <p:cNvSpPr>
            <a:spLocks noGrp="1"/>
          </p:cNvSpPr>
          <p:nvPr>
            <p:ph type="title"/>
          </p:nvPr>
        </p:nvSpPr>
        <p:spPr>
          <a:xfrm>
            <a:off x="838200" y="365126"/>
            <a:ext cx="10515600" cy="493004"/>
          </a:xfrm>
        </p:spPr>
        <p:txBody>
          <a:bodyPr>
            <a:normAutofit fontScale="90000"/>
          </a:bodyPr>
          <a:lstStyle/>
          <a:p>
            <a:r>
              <a:rPr lang="en-US" dirty="0"/>
              <a:t>Generic Strategy Type- Cameras &amp; Drones</a:t>
            </a:r>
          </a:p>
        </p:txBody>
      </p:sp>
      <p:pic>
        <p:nvPicPr>
          <p:cNvPr id="4" name="Content Placeholder 2" descr="The image depicts an expanded version of a three-strategy classification discussed in Michael E. Porter, Competitive Strategy (New York: Free Press, 1980).">
            <a:extLst>
              <a:ext uri="{FF2B5EF4-FFF2-40B4-BE49-F238E27FC236}">
                <a16:creationId xmlns:a16="http://schemas.microsoft.com/office/drawing/2014/main" id="{307F9FC6-0BCA-473F-8CB4-4A881F42C093}"/>
              </a:ext>
            </a:extLst>
          </p:cNvPr>
          <p:cNvPicPr>
            <a:picLocks noChangeAspect="1"/>
          </p:cNvPicPr>
          <p:nvPr/>
        </p:nvPicPr>
        <p:blipFill>
          <a:blip r:embed="rId2"/>
          <a:stretch>
            <a:fillRect/>
          </a:stretch>
        </p:blipFill>
        <p:spPr>
          <a:xfrm>
            <a:off x="2239515" y="1048826"/>
            <a:ext cx="7963629" cy="5110886"/>
          </a:xfrm>
          <a:prstGeom prst="rect">
            <a:avLst/>
          </a:prstGeom>
        </p:spPr>
      </p:pic>
      <p:sp>
        <p:nvSpPr>
          <p:cNvPr id="7" name="TextBox 6">
            <a:extLst>
              <a:ext uri="{FF2B5EF4-FFF2-40B4-BE49-F238E27FC236}">
                <a16:creationId xmlns:a16="http://schemas.microsoft.com/office/drawing/2014/main" id="{DCDABD07-0117-47FD-8EE4-C82C35DFCECA}"/>
              </a:ext>
            </a:extLst>
          </p:cNvPr>
          <p:cNvSpPr txBox="1"/>
          <p:nvPr/>
        </p:nvSpPr>
        <p:spPr>
          <a:xfrm>
            <a:off x="9660834" y="6169708"/>
            <a:ext cx="2213113" cy="646331"/>
          </a:xfrm>
          <a:prstGeom prst="rect">
            <a:avLst/>
          </a:prstGeom>
          <a:noFill/>
        </p:spPr>
        <p:txBody>
          <a:bodyPr wrap="square" rtlCol="0">
            <a:spAutoFit/>
          </a:bodyPr>
          <a:lstStyle/>
          <a:p>
            <a:r>
              <a:rPr lang="en-US" dirty="0"/>
              <a:t>See Text Ch 5</a:t>
            </a:r>
          </a:p>
          <a:p>
            <a:r>
              <a:rPr lang="en-US" dirty="0"/>
              <a:t>for more information</a:t>
            </a:r>
          </a:p>
        </p:txBody>
      </p:sp>
      <p:pic>
        <p:nvPicPr>
          <p:cNvPr id="2050" name="Picture 2" descr="File:Spotify logo without text.svg - Wikimedia Commons">
            <a:extLst>
              <a:ext uri="{FF2B5EF4-FFF2-40B4-BE49-F238E27FC236}">
                <a16:creationId xmlns:a16="http://schemas.microsoft.com/office/drawing/2014/main" id="{2BCA933F-B62E-4372-8E6E-EF5B1D36E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5196" y="2482758"/>
            <a:ext cx="714684" cy="71468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CDDB8F6-ADA0-0E80-3091-C67F284A9287}"/>
              </a:ext>
            </a:extLst>
          </p:cNvPr>
          <p:cNvSpPr txBox="1"/>
          <p:nvPr/>
        </p:nvSpPr>
        <p:spPr>
          <a:xfrm>
            <a:off x="148307" y="6211669"/>
            <a:ext cx="7110676" cy="646331"/>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Note to students: Mr. Liddle recommends you put a company logo right on this framework to help demonstrate which generic strategy the company is using.  I believe companies can have different generic strategies for different products so you might want to use pictures of product(s) as well.</a:t>
            </a:r>
          </a:p>
        </p:txBody>
      </p:sp>
    </p:spTree>
    <p:extLst>
      <p:ext uri="{BB962C8B-B14F-4D97-AF65-F5344CB8AC3E}">
        <p14:creationId xmlns:p14="http://schemas.microsoft.com/office/powerpoint/2010/main" val="333585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71CA-E37A-4655-99AA-A05AC4460741}"/>
              </a:ext>
            </a:extLst>
          </p:cNvPr>
          <p:cNvSpPr>
            <a:spLocks noGrp="1"/>
          </p:cNvSpPr>
          <p:nvPr>
            <p:ph type="title"/>
          </p:nvPr>
        </p:nvSpPr>
        <p:spPr>
          <a:xfrm>
            <a:off x="409189" y="219265"/>
            <a:ext cx="10515600" cy="662782"/>
          </a:xfrm>
        </p:spPr>
        <p:txBody>
          <a:bodyPr>
            <a:normAutofit fontScale="90000"/>
          </a:bodyPr>
          <a:lstStyle/>
          <a:p>
            <a:r>
              <a:rPr lang="en-US" dirty="0"/>
              <a:t>Identifying a Company’s Strategy-What to Look For</a:t>
            </a:r>
          </a:p>
        </p:txBody>
      </p:sp>
      <p:pic>
        <p:nvPicPr>
          <p:cNvPr id="4" name="Picture 3" descr="This figure gives the pattern of actions that define a company's strategy.">
            <a:extLst>
              <a:ext uri="{FF2B5EF4-FFF2-40B4-BE49-F238E27FC236}">
                <a16:creationId xmlns:a16="http://schemas.microsoft.com/office/drawing/2014/main" id="{8C9F4BEA-3D51-4A69-99D8-8FB1DD810201}"/>
              </a:ext>
            </a:extLst>
          </p:cNvPr>
          <p:cNvPicPr>
            <a:picLocks noChangeAspect="1"/>
          </p:cNvPicPr>
          <p:nvPr/>
        </p:nvPicPr>
        <p:blipFill>
          <a:blip r:embed="rId2"/>
          <a:stretch>
            <a:fillRect/>
          </a:stretch>
        </p:blipFill>
        <p:spPr>
          <a:xfrm>
            <a:off x="409189" y="2113840"/>
            <a:ext cx="2596855" cy="2630320"/>
          </a:xfrm>
          <a:prstGeom prst="rect">
            <a:avLst/>
          </a:prstGeom>
        </p:spPr>
      </p:pic>
      <p:graphicFrame>
        <p:nvGraphicFramePr>
          <p:cNvPr id="5" name="Table 5">
            <a:extLst>
              <a:ext uri="{FF2B5EF4-FFF2-40B4-BE49-F238E27FC236}">
                <a16:creationId xmlns:a16="http://schemas.microsoft.com/office/drawing/2014/main" id="{9D6ACFC8-0993-49B6-9EE2-0B62B23A5B8C}"/>
              </a:ext>
            </a:extLst>
          </p:cNvPr>
          <p:cNvGraphicFramePr>
            <a:graphicFrameLocks noGrp="1"/>
          </p:cNvGraphicFramePr>
          <p:nvPr>
            <p:extLst>
              <p:ext uri="{D42A27DB-BD31-4B8C-83A1-F6EECF244321}">
                <p14:modId xmlns:p14="http://schemas.microsoft.com/office/powerpoint/2010/main" val="2595601647"/>
              </p:ext>
            </p:extLst>
          </p:nvPr>
        </p:nvGraphicFramePr>
        <p:xfrm>
          <a:off x="3319088" y="1069720"/>
          <a:ext cx="8211931" cy="4912315"/>
        </p:xfrm>
        <a:graphic>
          <a:graphicData uri="http://schemas.openxmlformats.org/drawingml/2006/table">
            <a:tbl>
              <a:tblPr firstRow="1" bandRow="1">
                <a:tableStyleId>{F5AB1C69-6EDB-4FF4-983F-18BD219EF322}</a:tableStyleId>
              </a:tblPr>
              <a:tblGrid>
                <a:gridCol w="2725532">
                  <a:extLst>
                    <a:ext uri="{9D8B030D-6E8A-4147-A177-3AD203B41FA5}">
                      <a16:colId xmlns:a16="http://schemas.microsoft.com/office/drawing/2014/main" val="2961622684"/>
                    </a:ext>
                  </a:extLst>
                </a:gridCol>
                <a:gridCol w="5486399">
                  <a:extLst>
                    <a:ext uri="{9D8B030D-6E8A-4147-A177-3AD203B41FA5}">
                      <a16:colId xmlns:a16="http://schemas.microsoft.com/office/drawing/2014/main" val="3222256834"/>
                    </a:ext>
                  </a:extLst>
                </a:gridCol>
              </a:tblGrid>
              <a:tr h="417721">
                <a:tc>
                  <a:txBody>
                    <a:bodyPr/>
                    <a:lstStyle/>
                    <a:p>
                      <a:r>
                        <a:rPr lang="en-US" dirty="0"/>
                        <a:t>Key Action Descriptions</a:t>
                      </a:r>
                    </a:p>
                  </a:txBody>
                  <a:tcPr/>
                </a:tc>
                <a:tc>
                  <a:txBody>
                    <a:bodyPr/>
                    <a:lstStyle/>
                    <a:p>
                      <a:r>
                        <a:rPr lang="en-US" dirty="0"/>
                        <a:t>Specific Actions Observed</a:t>
                      </a:r>
                    </a:p>
                  </a:txBody>
                  <a:tcPr/>
                </a:tc>
                <a:extLst>
                  <a:ext uri="{0D108BD9-81ED-4DB2-BD59-A6C34878D82A}">
                    <a16:rowId xmlns:a16="http://schemas.microsoft.com/office/drawing/2014/main" val="970776394"/>
                  </a:ext>
                </a:extLst>
              </a:tr>
              <a:tr h="446332">
                <a:tc>
                  <a:txBody>
                    <a:bodyPr/>
                    <a:lstStyle/>
                    <a:p>
                      <a:r>
                        <a:rPr lang="en-US" sz="1000" dirty="0"/>
                        <a:t>Strengthening bargaining position with suppliers, distributors, &amp; others</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p>
                      <a:pPr marL="171450" indent="-171450">
                        <a:buFont typeface="Arial" panose="020B0604020202020204" pitchFamily="34" charset="0"/>
                        <a:buChar char="•"/>
                      </a:pPr>
                      <a:r>
                        <a:rPr lang="en-US" sz="1000" dirty="0"/>
                        <a:t>Action 3</a:t>
                      </a:r>
                    </a:p>
                  </a:txBody>
                  <a:tcPr/>
                </a:tc>
                <a:extLst>
                  <a:ext uri="{0D108BD9-81ED-4DB2-BD59-A6C34878D82A}">
                    <a16:rowId xmlns:a16="http://schemas.microsoft.com/office/drawing/2014/main" val="368745422"/>
                  </a:ext>
                </a:extLst>
              </a:tr>
              <a:tr h="417721">
                <a:tc>
                  <a:txBody>
                    <a:bodyPr/>
                    <a:lstStyle/>
                    <a:p>
                      <a:r>
                        <a:rPr lang="en-US" sz="1000" dirty="0"/>
                        <a:t>Gaining market share via differentiation</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4055847915"/>
                  </a:ext>
                </a:extLst>
              </a:tr>
              <a:tr h="417721">
                <a:tc>
                  <a:txBody>
                    <a:bodyPr/>
                    <a:lstStyle/>
                    <a:p>
                      <a:r>
                        <a:rPr lang="en-US" sz="1000" dirty="0"/>
                        <a:t>Gaining market share via cost/price</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409437967"/>
                  </a:ext>
                </a:extLst>
              </a:tr>
              <a:tr h="446332">
                <a:tc>
                  <a:txBody>
                    <a:bodyPr/>
                    <a:lstStyle/>
                    <a:p>
                      <a:r>
                        <a:rPr lang="en-US" sz="1000" dirty="0"/>
                        <a:t>Entering/Exiting product or geographic markets</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3771025195"/>
                  </a:ext>
                </a:extLst>
              </a:tr>
              <a:tr h="446332">
                <a:tc>
                  <a:txBody>
                    <a:bodyPr/>
                    <a:lstStyle/>
                    <a:p>
                      <a:r>
                        <a:rPr lang="en-US" sz="1000" dirty="0"/>
                        <a:t>Capturing emerging market opportunities &amp; defending against threats</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2577478666"/>
                  </a:ext>
                </a:extLst>
              </a:tr>
              <a:tr h="446332">
                <a:tc>
                  <a:txBody>
                    <a:bodyPr/>
                    <a:lstStyle/>
                    <a:p>
                      <a:r>
                        <a:rPr lang="en-US" sz="1000" dirty="0"/>
                        <a:t>Strengthening reputation through CSR &amp; Environmental sustainability</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2404578660"/>
                  </a:ext>
                </a:extLst>
              </a:tr>
              <a:tr h="446332">
                <a:tc>
                  <a:txBody>
                    <a:bodyPr/>
                    <a:lstStyle/>
                    <a:p>
                      <a:r>
                        <a:rPr lang="en-US" sz="1000" dirty="0"/>
                        <a:t>Strengthening culture &amp; motivating employees</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281948856"/>
                  </a:ext>
                </a:extLst>
              </a:tr>
              <a:tr h="446332">
                <a:tc>
                  <a:txBody>
                    <a:bodyPr/>
                    <a:lstStyle/>
                    <a:p>
                      <a:r>
                        <a:rPr lang="en-US" sz="1000" dirty="0"/>
                        <a:t>Strengthening competitiveness through M&amp;A or alliances &amp; partnerships</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2152080762"/>
                  </a:ext>
                </a:extLst>
              </a:tr>
              <a:tr h="432520">
                <a:tc>
                  <a:txBody>
                    <a:bodyPr/>
                    <a:lstStyle/>
                    <a:p>
                      <a:r>
                        <a:rPr lang="en-US" sz="1000" dirty="0"/>
                        <a:t>Approaches used in managing key activities </a:t>
                      </a:r>
                    </a:p>
                  </a:txBody>
                  <a:tcPr/>
                </a:tc>
                <a:tc>
                  <a:txBody>
                    <a:bodyPr/>
                    <a:lstStyle/>
                    <a:p>
                      <a:pPr marL="171450" indent="-171450">
                        <a:buFont typeface="Arial" panose="020B0604020202020204" pitchFamily="34" charset="0"/>
                        <a:buChar char="•"/>
                      </a:pPr>
                      <a:r>
                        <a:rPr lang="en-US" sz="1000"/>
                        <a:t>Action 1</a:t>
                      </a:r>
                    </a:p>
                    <a:p>
                      <a:pPr marL="171450" indent="-171450">
                        <a:buFont typeface="Arial" panose="020B0604020202020204" pitchFamily="34" charset="0"/>
                        <a:buChar char="•"/>
                      </a:pPr>
                      <a:r>
                        <a:rPr lang="en-US" sz="1000"/>
                        <a:t>Action 2</a:t>
                      </a:r>
                    </a:p>
                  </a:txBody>
                  <a:tcPr/>
                </a:tc>
                <a:extLst>
                  <a:ext uri="{0D108BD9-81ED-4DB2-BD59-A6C34878D82A}">
                    <a16:rowId xmlns:a16="http://schemas.microsoft.com/office/drawing/2014/main" val="3635588127"/>
                  </a:ext>
                </a:extLst>
              </a:tr>
              <a:tr h="446332">
                <a:tc>
                  <a:txBody>
                    <a:bodyPr/>
                    <a:lstStyle/>
                    <a:p>
                      <a:r>
                        <a:rPr lang="en-US" sz="1000" dirty="0"/>
                        <a:t>Upgrade, build, or acquire resources &amp; capabilities</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extLst>
                  <a:ext uri="{0D108BD9-81ED-4DB2-BD59-A6C34878D82A}">
                    <a16:rowId xmlns:a16="http://schemas.microsoft.com/office/drawing/2014/main" val="3147154623"/>
                  </a:ext>
                </a:extLst>
              </a:tr>
            </a:tbl>
          </a:graphicData>
        </a:graphic>
      </p:graphicFrame>
      <p:sp>
        <p:nvSpPr>
          <p:cNvPr id="6" name="TextBox 5">
            <a:extLst>
              <a:ext uri="{FF2B5EF4-FFF2-40B4-BE49-F238E27FC236}">
                <a16:creationId xmlns:a16="http://schemas.microsoft.com/office/drawing/2014/main" id="{2AF9D314-C9F2-4174-BC8A-41AD5E0208BC}"/>
              </a:ext>
            </a:extLst>
          </p:cNvPr>
          <p:cNvSpPr txBox="1"/>
          <p:nvPr/>
        </p:nvSpPr>
        <p:spPr>
          <a:xfrm>
            <a:off x="840932" y="4821819"/>
            <a:ext cx="2478156" cy="646331"/>
          </a:xfrm>
          <a:prstGeom prst="rect">
            <a:avLst/>
          </a:prstGeom>
          <a:noFill/>
        </p:spPr>
        <p:txBody>
          <a:bodyPr wrap="square" rtlCol="0">
            <a:spAutoFit/>
          </a:bodyPr>
          <a:lstStyle/>
          <a:p>
            <a:r>
              <a:rPr lang="en-US" dirty="0"/>
              <a:t>See Text Ch 1</a:t>
            </a:r>
          </a:p>
          <a:p>
            <a:r>
              <a:rPr lang="en-US" dirty="0"/>
              <a:t>for more information</a:t>
            </a:r>
          </a:p>
        </p:txBody>
      </p:sp>
      <p:sp>
        <p:nvSpPr>
          <p:cNvPr id="7" name="TextBox 6">
            <a:extLst>
              <a:ext uri="{FF2B5EF4-FFF2-40B4-BE49-F238E27FC236}">
                <a16:creationId xmlns:a16="http://schemas.microsoft.com/office/drawing/2014/main" id="{1A87A649-DEF4-404A-84FC-81B250841A38}"/>
              </a:ext>
            </a:extLst>
          </p:cNvPr>
          <p:cNvSpPr txBox="1"/>
          <p:nvPr/>
        </p:nvSpPr>
        <p:spPr>
          <a:xfrm>
            <a:off x="598419" y="6059694"/>
            <a:ext cx="7110676" cy="738664"/>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Note to students: This model helps us think through the key visible actions that a company might take to implement its strategy.  Use the table to brainstorm and write down as many actions as you can observe, then summarize the most important actions to the audience in an executive summary.</a:t>
            </a:r>
          </a:p>
        </p:txBody>
      </p:sp>
    </p:spTree>
    <p:extLst>
      <p:ext uri="{BB962C8B-B14F-4D97-AF65-F5344CB8AC3E}">
        <p14:creationId xmlns:p14="http://schemas.microsoft.com/office/powerpoint/2010/main" val="4290754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90A7-B86C-459B-8F5F-D4E33C1D8757}"/>
              </a:ext>
            </a:extLst>
          </p:cNvPr>
          <p:cNvSpPr>
            <a:spLocks noGrp="1"/>
          </p:cNvSpPr>
          <p:nvPr>
            <p:ph type="title"/>
          </p:nvPr>
        </p:nvSpPr>
        <p:spPr>
          <a:xfrm>
            <a:off x="591378" y="365126"/>
            <a:ext cx="11009243" cy="493004"/>
          </a:xfrm>
        </p:spPr>
        <p:txBody>
          <a:bodyPr>
            <a:normAutofit fontScale="90000"/>
          </a:bodyPr>
          <a:lstStyle/>
          <a:p>
            <a:r>
              <a:rPr lang="en-US" dirty="0"/>
              <a:t>Immediate External Environment – Five Force Model</a:t>
            </a:r>
          </a:p>
        </p:txBody>
      </p:sp>
      <p:grpSp>
        <p:nvGrpSpPr>
          <p:cNvPr id="3" name="Group 2">
            <a:extLst>
              <a:ext uri="{FF2B5EF4-FFF2-40B4-BE49-F238E27FC236}">
                <a16:creationId xmlns:a16="http://schemas.microsoft.com/office/drawing/2014/main" id="{59BD390D-7BB8-4AA2-8B94-FF743385AB55}"/>
              </a:ext>
            </a:extLst>
          </p:cNvPr>
          <p:cNvGrpSpPr/>
          <p:nvPr/>
        </p:nvGrpSpPr>
        <p:grpSpPr>
          <a:xfrm>
            <a:off x="2616590" y="1000115"/>
            <a:ext cx="7835703" cy="5071358"/>
            <a:chOff x="2616590" y="1000115"/>
            <a:chExt cx="7835703" cy="5071358"/>
          </a:xfrm>
        </p:grpSpPr>
        <p:sp>
          <p:nvSpPr>
            <p:cNvPr id="9" name="Rectangle 8">
              <a:extLst>
                <a:ext uri="{FF2B5EF4-FFF2-40B4-BE49-F238E27FC236}">
                  <a16:creationId xmlns:a16="http://schemas.microsoft.com/office/drawing/2014/main" id="{5B5C345A-5BF7-4A12-B50C-E9771E6F4FC8}"/>
                </a:ext>
              </a:extLst>
            </p:cNvPr>
            <p:cNvSpPr/>
            <p:nvPr/>
          </p:nvSpPr>
          <p:spPr>
            <a:xfrm>
              <a:off x="5430129" y="1000115"/>
              <a:ext cx="2278966" cy="1416599"/>
            </a:xfrm>
            <a:prstGeom prst="rect">
              <a:avLst/>
            </a:prstGeom>
            <a:solidFill>
              <a:srgbClr val="75B070"/>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u="sng" dirty="0"/>
                <a:t>SUBSITUTE PRODUCTS</a:t>
              </a:r>
            </a:p>
            <a:p>
              <a:r>
                <a:rPr lang="en-US" sz="1200" i="1" dirty="0"/>
                <a:t>Strong/Moderate/Weak Force</a:t>
              </a:r>
            </a:p>
            <a:p>
              <a:pPr marL="171450" indent="-171450">
                <a:buFont typeface="Arial" panose="020B0604020202020204" pitchFamily="34" charset="0"/>
                <a:buChar char="•"/>
              </a:pPr>
              <a:r>
                <a:rPr lang="en-US" sz="1200" dirty="0"/>
                <a:t>List of Firms or products</a:t>
              </a:r>
            </a:p>
          </p:txBody>
        </p:sp>
        <p:sp>
          <p:nvSpPr>
            <p:cNvPr id="10" name="Rectangle 9">
              <a:extLst>
                <a:ext uri="{FF2B5EF4-FFF2-40B4-BE49-F238E27FC236}">
                  <a16:creationId xmlns:a16="http://schemas.microsoft.com/office/drawing/2014/main" id="{88C5B376-F70A-4414-9879-301CC9095ED2}"/>
                </a:ext>
              </a:extLst>
            </p:cNvPr>
            <p:cNvSpPr/>
            <p:nvPr/>
          </p:nvSpPr>
          <p:spPr>
            <a:xfrm>
              <a:off x="5430129" y="4901059"/>
              <a:ext cx="2278966" cy="1170414"/>
            </a:xfrm>
            <a:prstGeom prst="rect">
              <a:avLst/>
            </a:prstGeom>
            <a:solidFill>
              <a:srgbClr val="7030A0"/>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u="sng" dirty="0"/>
                <a:t>POTENTIAL NEW ENTRANTS</a:t>
              </a:r>
            </a:p>
            <a:p>
              <a:r>
                <a:rPr lang="en-US" sz="1200" i="1" dirty="0"/>
                <a:t>Strong/Moderate/Weak Force</a:t>
              </a:r>
            </a:p>
            <a:p>
              <a:pPr marL="171450" indent="-171450">
                <a:buFont typeface="Arial" panose="020B0604020202020204" pitchFamily="34" charset="0"/>
                <a:buChar char="•"/>
              </a:pPr>
              <a:r>
                <a:rPr lang="en-US" sz="1200" dirty="0"/>
                <a:t>List of Firms</a:t>
              </a:r>
            </a:p>
          </p:txBody>
        </p:sp>
        <p:sp>
          <p:nvSpPr>
            <p:cNvPr id="11" name="Rectangle 10">
              <a:extLst>
                <a:ext uri="{FF2B5EF4-FFF2-40B4-BE49-F238E27FC236}">
                  <a16:creationId xmlns:a16="http://schemas.microsoft.com/office/drawing/2014/main" id="{E3F804EE-189E-4059-9FDC-C935A971DE5A}"/>
                </a:ext>
              </a:extLst>
            </p:cNvPr>
            <p:cNvSpPr/>
            <p:nvPr/>
          </p:nvSpPr>
          <p:spPr>
            <a:xfrm>
              <a:off x="8152258" y="3041105"/>
              <a:ext cx="2300035" cy="1162652"/>
            </a:xfrm>
            <a:prstGeom prst="rect">
              <a:avLst/>
            </a:prstGeom>
            <a:solidFill>
              <a:schemeClr val="accent4">
                <a:lumMod val="75000"/>
              </a:schemeClr>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u="sng" dirty="0"/>
                <a:t>BUYERS</a:t>
              </a:r>
            </a:p>
            <a:p>
              <a:r>
                <a:rPr lang="en-US" sz="1200" i="1" dirty="0"/>
                <a:t>Strong/Moderate/Weak Force</a:t>
              </a:r>
            </a:p>
            <a:p>
              <a:pPr marL="171450" indent="-171450">
                <a:buFont typeface="Arial" panose="020B0604020202020204" pitchFamily="34" charset="0"/>
                <a:buChar char="•"/>
              </a:pPr>
              <a:r>
                <a:rPr lang="en-US" sz="1200" dirty="0"/>
                <a:t>List of Significant Buyers</a:t>
              </a:r>
            </a:p>
          </p:txBody>
        </p:sp>
        <p:sp>
          <p:nvSpPr>
            <p:cNvPr id="12" name="Rectangle 11">
              <a:extLst>
                <a:ext uri="{FF2B5EF4-FFF2-40B4-BE49-F238E27FC236}">
                  <a16:creationId xmlns:a16="http://schemas.microsoft.com/office/drawing/2014/main" id="{A673559B-4331-4623-BB64-A4AFD670B479}"/>
                </a:ext>
              </a:extLst>
            </p:cNvPr>
            <p:cNvSpPr/>
            <p:nvPr/>
          </p:nvSpPr>
          <p:spPr>
            <a:xfrm>
              <a:off x="2616590" y="3027037"/>
              <a:ext cx="2401841" cy="1188536"/>
            </a:xfrm>
            <a:prstGeom prst="rect">
              <a:avLst/>
            </a:prstGeom>
            <a:solidFill>
              <a:srgbClr val="C00000"/>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u="sng" dirty="0"/>
                <a:t>SUPPLIERS</a:t>
              </a:r>
            </a:p>
            <a:p>
              <a:r>
                <a:rPr lang="en-US" sz="1200" i="1" dirty="0"/>
                <a:t>Strong/Moderate/Weak Force</a:t>
              </a:r>
            </a:p>
            <a:p>
              <a:pPr marL="171450" indent="-171450">
                <a:buFont typeface="Arial" panose="020B0604020202020204" pitchFamily="34" charset="0"/>
                <a:buChar char="•"/>
              </a:pPr>
              <a:r>
                <a:rPr lang="en-US" sz="1200" dirty="0"/>
                <a:t>List of Significant Suppliers</a:t>
              </a:r>
            </a:p>
          </p:txBody>
        </p:sp>
        <p:sp>
          <p:nvSpPr>
            <p:cNvPr id="13" name="Rectangle 12">
              <a:extLst>
                <a:ext uri="{FF2B5EF4-FFF2-40B4-BE49-F238E27FC236}">
                  <a16:creationId xmlns:a16="http://schemas.microsoft.com/office/drawing/2014/main" id="{4E676EBB-C1A7-431A-8252-43D3905AD663}"/>
                </a:ext>
              </a:extLst>
            </p:cNvPr>
            <p:cNvSpPr/>
            <p:nvPr/>
          </p:nvSpPr>
          <p:spPr>
            <a:xfrm>
              <a:off x="5430129" y="2672862"/>
              <a:ext cx="2278966" cy="1899138"/>
            </a:xfrm>
            <a:prstGeom prst="rect">
              <a:avLst/>
            </a:prstGeom>
            <a:solidFill>
              <a:schemeClr val="accent1">
                <a:lumMod val="60000"/>
                <a:lumOff val="40000"/>
              </a:schemeClr>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u="sng" dirty="0"/>
                <a:t>RIVAL FIRMS</a:t>
              </a:r>
            </a:p>
            <a:p>
              <a:r>
                <a:rPr lang="en-US" sz="1200" i="1" dirty="0"/>
                <a:t>Strong/Moderate/Weak Force</a:t>
              </a:r>
            </a:p>
            <a:p>
              <a:pPr marL="171450" indent="-171450">
                <a:buFont typeface="Arial" panose="020B0604020202020204" pitchFamily="34" charset="0"/>
                <a:buChar char="•"/>
              </a:pPr>
              <a:r>
                <a:rPr lang="en-US" sz="1200" dirty="0"/>
                <a:t>List of Firms</a:t>
              </a:r>
            </a:p>
          </p:txBody>
        </p:sp>
        <p:cxnSp>
          <p:nvCxnSpPr>
            <p:cNvPr id="15" name="Straight Arrow Connector 14">
              <a:extLst>
                <a:ext uri="{FF2B5EF4-FFF2-40B4-BE49-F238E27FC236}">
                  <a16:creationId xmlns:a16="http://schemas.microsoft.com/office/drawing/2014/main" id="{5D2726FA-C2CE-4CB3-9052-0F7168EBA387}"/>
                </a:ext>
              </a:extLst>
            </p:cNvPr>
            <p:cNvCxnSpPr>
              <a:cxnSpLocks/>
              <a:stCxn id="12" idx="3"/>
              <a:endCxn id="13" idx="1"/>
            </p:cNvCxnSpPr>
            <p:nvPr/>
          </p:nvCxnSpPr>
          <p:spPr>
            <a:xfrm>
              <a:off x="5018431" y="3621305"/>
              <a:ext cx="411698" cy="1126"/>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E4DB4C1-C881-4738-824C-68B8FB64EB96}"/>
                </a:ext>
              </a:extLst>
            </p:cNvPr>
            <p:cNvCxnSpPr>
              <a:cxnSpLocks/>
              <a:stCxn id="11" idx="1"/>
              <a:endCxn id="13" idx="3"/>
            </p:cNvCxnSpPr>
            <p:nvPr/>
          </p:nvCxnSpPr>
          <p:spPr>
            <a:xfrm flipH="1">
              <a:off x="7709095" y="3622431"/>
              <a:ext cx="443163"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6425C28-4EE6-4BAA-B830-1EDAE17E08C1}"/>
                </a:ext>
              </a:extLst>
            </p:cNvPr>
            <p:cNvCxnSpPr>
              <a:cxnSpLocks/>
              <a:stCxn id="9" idx="2"/>
              <a:endCxn id="13" idx="0"/>
            </p:cNvCxnSpPr>
            <p:nvPr/>
          </p:nvCxnSpPr>
          <p:spPr>
            <a:xfrm>
              <a:off x="6569612" y="2416714"/>
              <a:ext cx="0" cy="256148"/>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39E99A5-38C8-4CE8-8D96-BC8ADBD6D773}"/>
                </a:ext>
              </a:extLst>
            </p:cNvPr>
            <p:cNvCxnSpPr>
              <a:cxnSpLocks/>
              <a:stCxn id="10" idx="0"/>
              <a:endCxn id="13" idx="2"/>
            </p:cNvCxnSpPr>
            <p:nvPr/>
          </p:nvCxnSpPr>
          <p:spPr>
            <a:xfrm flipV="1">
              <a:off x="6569612" y="4572000"/>
              <a:ext cx="0" cy="329059"/>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EED152AE-291B-4F58-A315-5DF232005D9C}"/>
              </a:ext>
            </a:extLst>
          </p:cNvPr>
          <p:cNvSpPr txBox="1"/>
          <p:nvPr/>
        </p:nvSpPr>
        <p:spPr>
          <a:xfrm>
            <a:off x="9395791" y="6169708"/>
            <a:ext cx="2300035" cy="646331"/>
          </a:xfrm>
          <a:prstGeom prst="rect">
            <a:avLst/>
          </a:prstGeom>
          <a:noFill/>
        </p:spPr>
        <p:txBody>
          <a:bodyPr wrap="square" rtlCol="0">
            <a:spAutoFit/>
          </a:bodyPr>
          <a:lstStyle/>
          <a:p>
            <a:r>
              <a:rPr lang="en-US" dirty="0"/>
              <a:t>See Text Ch 3</a:t>
            </a:r>
          </a:p>
          <a:p>
            <a:r>
              <a:rPr lang="en-US" dirty="0"/>
              <a:t>for more information</a:t>
            </a:r>
          </a:p>
        </p:txBody>
      </p:sp>
      <p:sp>
        <p:nvSpPr>
          <p:cNvPr id="62" name="TextBox 61">
            <a:extLst>
              <a:ext uri="{FF2B5EF4-FFF2-40B4-BE49-F238E27FC236}">
                <a16:creationId xmlns:a16="http://schemas.microsoft.com/office/drawing/2014/main" id="{416C427B-D14A-4F61-B6B5-4BF31DA4B482}"/>
              </a:ext>
            </a:extLst>
          </p:cNvPr>
          <p:cNvSpPr txBox="1"/>
          <p:nvPr/>
        </p:nvSpPr>
        <p:spPr>
          <a:xfrm>
            <a:off x="598418" y="6217687"/>
            <a:ext cx="7459731" cy="523220"/>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Note to students: Five Force Analysis helps us think through all the Immediate External Forces and decide which ones have the most strategic relevance.  This can help us decide what strategic actions to take next.</a:t>
            </a:r>
          </a:p>
        </p:txBody>
      </p:sp>
    </p:spTree>
    <p:extLst>
      <p:ext uri="{BB962C8B-B14F-4D97-AF65-F5344CB8AC3E}">
        <p14:creationId xmlns:p14="http://schemas.microsoft.com/office/powerpoint/2010/main" val="4016600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90A7-B86C-459B-8F5F-D4E33C1D8757}"/>
              </a:ext>
            </a:extLst>
          </p:cNvPr>
          <p:cNvSpPr>
            <a:spLocks noGrp="1"/>
          </p:cNvSpPr>
          <p:nvPr>
            <p:ph type="title"/>
          </p:nvPr>
        </p:nvSpPr>
        <p:spPr>
          <a:xfrm>
            <a:off x="2014330" y="1135057"/>
            <a:ext cx="8058486" cy="600000"/>
          </a:xfrm>
        </p:spPr>
        <p:txBody>
          <a:bodyPr>
            <a:normAutofit fontScale="90000"/>
          </a:bodyPr>
          <a:lstStyle/>
          <a:p>
            <a:pPr algn="ctr"/>
            <a:r>
              <a:rPr lang="en-US" dirty="0" sz="3200" b="1"/>
              <a:t>PESTEL Analysis – Lululemon</a:t>
            </a:r>
          </a:p>
        </p:txBody>
      </p:sp>
      <p:graphicFrame>
        <p:nvGraphicFramePr>
          <p:cNvPr id="5" name="Table 5">
            <a:extLst>
              <a:ext uri="{FF2B5EF4-FFF2-40B4-BE49-F238E27FC236}">
                <a16:creationId xmlns:a16="http://schemas.microsoft.com/office/drawing/2014/main" id="{E58EFF30-3EC1-4E9E-894B-0C09798CD27B}"/>
              </a:ext>
            </a:extLst>
          </p:cNvPr>
          <p:cNvGraphicFramePr>
            <a:graphicFrameLocks noGrp="1"/>
          </p:cNvGraphicFramePr>
          <p:nvPr>
            <p:extLst>
              <p:ext uri="{D42A27DB-BD31-4B8C-83A1-F6EECF244321}">
                <p14:modId xmlns:p14="http://schemas.microsoft.com/office/powerpoint/2010/main" val="3867871775"/>
              </p:ext>
            </p:extLst>
          </p:nvPr>
        </p:nvGraphicFramePr>
        <p:xfrm>
          <a:off x="2014330" y="1835057"/>
          <a:ext cx="8058486" cy="3012440"/>
        </p:xfrm>
        <a:graphic>
          <a:graphicData uri="http://schemas.openxmlformats.org/drawingml/2006/table">
            <a:tbl>
              <a:tblPr firstRow="1" bandRow="1">
                <a:tableStyleId>{5C22544A-7EE6-4342-B048-85BDC9FD1C3A}</a:tableStyleId>
              </a:tblPr>
              <a:tblGrid>
                <a:gridCol w="1216597">
                  <a:extLst>
                    <a:ext uri="{9D8B030D-6E8A-4147-A177-3AD203B41FA5}">
                      <a16:colId xmlns:a16="http://schemas.microsoft.com/office/drawing/2014/main" val="3060426953"/>
                    </a:ext>
                  </a:extLst>
                </a:gridCol>
                <a:gridCol w="1182047">
                  <a:extLst>
                    <a:ext uri="{9D8B030D-6E8A-4147-A177-3AD203B41FA5}">
                      <a16:colId xmlns:a16="http://schemas.microsoft.com/office/drawing/2014/main" val="917259881"/>
                    </a:ext>
                  </a:extLst>
                </a:gridCol>
                <a:gridCol w="5659842">
                  <a:extLst>
                    <a:ext uri="{9D8B030D-6E8A-4147-A177-3AD203B41FA5}">
                      <a16:colId xmlns:a16="http://schemas.microsoft.com/office/drawing/2014/main" val="4086734447"/>
                    </a:ext>
                  </a:extLst>
                </a:gridCol>
              </a:tblGrid>
              <a:tr h="0">
                <a:tc>
                  <a:txBody>
                    <a:bodyPr/>
                    <a:lstStyle/>
                    <a:p>
                      <a:r>
                        <a:rPr lang="en-US" sz="1400" dirty="0"/>
                        <a:t>COMPONENT</a:t>
                      </a:r>
                    </a:p>
                  </a:txBody>
                  <a:tcPr/>
                </a:tc>
                <a:tc>
                  <a:txBody>
                    <a:bodyPr/>
                    <a:lstStyle/>
                    <a:p>
                      <a:r>
                        <a:rPr lang="en-US" sz="1400" dirty="0"/>
                        <a:t>STRATEGIC RELEVANCE</a:t>
                      </a:r>
                    </a:p>
                  </a:txBody>
                  <a:tcPr/>
                </a:tc>
                <a:tc>
                  <a:txBody>
                    <a:bodyPr/>
                    <a:lstStyle/>
                    <a:p>
                      <a:r>
                        <a:rPr lang="en-US" sz="1400" dirty="0"/>
                        <a:t>LIST OF KNOWN FORCES IN THIS CATEGORY</a:t>
                      </a:r>
                    </a:p>
                  </a:txBody>
                  <a:tcPr/>
                </a:tc>
                <a:extLst>
                  <a:ext uri="{0D108BD9-81ED-4DB2-BD59-A6C34878D82A}">
                    <a16:rowId xmlns:a16="http://schemas.microsoft.com/office/drawing/2014/main" val="1156933257"/>
                  </a:ext>
                </a:extLst>
              </a:tr>
              <a:tr h="370840">
                <a:tc>
                  <a:txBody>
                    <a:bodyPr/>
                    <a:lstStyle/>
                    <a:p>
                      <a:r>
                        <a:rPr lang="en-US" b="1" dirty="0" sz="1100"/>
                        <a:t>P</a:t>
                      </a:r>
                      <a:r>
                        <a:rPr lang="en-US" sz="1100" b="0" dirty="0"/>
                        <a:t>olitical</a:t>
                      </a:r>
                    </a:p>
                  </a:txBody>
                  <a:tcPr/>
                </a:tc>
                <a:tc>
                  <a:txBody>
                    <a:bodyPr/>
                    <a:lstStyle/>
                    <a:p>
                      <a:r>
                        <a:rPr lang="en-US" sz="1100" dirty="0"/>
                        <a:t>Moderate</a:t>
                      </a:r>
                    </a:p>
                  </a:txBody>
                  <a:tcPr/>
                </a:tc>
                <a:tc>
                  <a:txBody>
                    <a:bodyPr/>
                    <a:lstStyle/>
                    <a:p>
                      <a:pPr marL="0" indent="0">
                        <a:buNone/>
                      </a:pPr>
                      <a:r>
                        <a:rPr lang="en-US" sz="1100" dirty="0"/>
                        <a:t>Tariffs on clothes made in Vietnam, Cambodia, and China</a:t>
                      </a:r>
                    </a:p>
                    <a:p>
                      <a:r>
                        <a:rPr sz="1100"/>
                        <a:t>Doing business in China</a:t>
                      </a:r>
                    </a:p>
                    <a:p>
                      <a:r>
                        <a:rPr sz="1100"/>
                        <a:t>Unstable governments where products are made</a:t>
                      </a:r>
                    </a:p>
                  </a:txBody>
                  <a:tcPr/>
                </a:tc>
                <a:extLst>
                  <a:ext uri="{0D108BD9-81ED-4DB2-BD59-A6C34878D82A}">
                    <a16:rowId xmlns:a16="http://schemas.microsoft.com/office/drawing/2014/main" val="1130360618"/>
                  </a:ext>
                </a:extLst>
              </a:tr>
              <a:tr h="370840">
                <a:tc>
                  <a:txBody>
                    <a:bodyPr/>
                    <a:lstStyle/>
                    <a:p>
                      <a:r>
                        <a:rPr lang="en-US" b="1" dirty="0" sz="1100"/>
                        <a:t>E</a:t>
                      </a:r>
                      <a:r>
                        <a:rPr lang="en-US" sz="1100" b="0" dirty="0"/>
                        <a:t>conomic</a:t>
                      </a:r>
                      <a:endParaRPr lang="en-US" b="0" dirty="0"/>
                    </a:p>
                  </a:txBody>
                  <a:tcPr/>
                </a:tc>
                <a:tc>
                  <a:txBody>
                    <a:bodyPr/>
                    <a:lstStyle/>
                    <a:p>
                      <a:r>
                        <a:rPr sz="1100"/>
                        <a:t>High</a:t>
                      </a:r>
                      <a:endParaRPr lang="en-US" sz="1200" dirty="0"/>
                    </a:p>
                  </a:txBody>
                  <a:tcPr/>
                </a:tc>
                <a:tc>
                  <a:txBody>
                    <a:bodyPr/>
                    <a:lstStyle/>
                    <a:p>
                      <a:r>
                        <a:rPr sz="1100"/>
                        <a:t>Inflation – people spending less on pricey clothes</a:t>
                      </a:r>
                      <a:endParaRPr lang="en-US" sz="1200" dirty="0"/>
                    </a:p>
                    <a:p>
                      <a:r>
                        <a:rPr sz="1100"/>
                        <a:t>Fast growth in other countries, mainly China</a:t>
                      </a:r>
                    </a:p>
                    <a:p>
                      <a:r>
                        <a:rPr sz="1100"/>
                        <a:t>Exchange rates affecting sales overseas</a:t>
                      </a:r>
                    </a:p>
                  </a:txBody>
                  <a:tcPr/>
                </a:tc>
                <a:extLst>
                  <a:ext uri="{0D108BD9-81ED-4DB2-BD59-A6C34878D82A}">
                    <a16:rowId xmlns:a16="http://schemas.microsoft.com/office/drawing/2014/main" val="3031543000"/>
                  </a:ext>
                </a:extLst>
              </a:tr>
              <a:tr h="370840">
                <a:tc>
                  <a:txBody>
                    <a:bodyPr/>
                    <a:lstStyle/>
                    <a:p>
                      <a:r>
                        <a:rPr lang="en-US" b="1" dirty="0" sz="1100"/>
                        <a:t>S</a:t>
                      </a:r>
                      <a:r>
                        <a:rPr lang="en-US" sz="1100" b="0" dirty="0"/>
                        <a:t>ociocultural</a:t>
                      </a:r>
                      <a:endParaRPr lang="en-US" b="0" dirty="0"/>
                    </a:p>
                  </a:txBody>
                  <a:tcPr/>
                </a:tc>
                <a:tc>
                  <a:txBody>
                    <a:bodyPr/>
                    <a:lstStyle/>
                    <a:p>
                      <a:r>
                        <a:rPr sz="1100"/>
                        <a:t>High</a:t>
                      </a:r>
                      <a:endParaRPr lang="en-US" sz="1200" dirty="0"/>
                    </a:p>
                  </a:txBody>
                  <a:tcPr/>
                </a:tc>
                <a:tc>
                  <a:txBody>
                    <a:bodyPr/>
                    <a:lstStyle/>
                    <a:p>
                      <a:r>
                        <a:rPr sz="1100"/>
                        <a:t>Athleisure trend – workout clothes worn every day</a:t>
                      </a:r>
                      <a:endParaRPr lang="en-US" sz="1200" dirty="0"/>
                    </a:p>
                    <a:p>
                      <a:r>
                        <a:rPr sz="1100"/>
                        <a:t>More men buying workout clothes</a:t>
                      </a:r>
                    </a:p>
                    <a:p>
                      <a:r>
                        <a:rPr sz="1100"/>
                        <a:t>TikTok trends and cheap knockoffs (dupes)</a:t>
                      </a:r>
                    </a:p>
                  </a:txBody>
                  <a:tcPr/>
                </a:tc>
                <a:extLst>
                  <a:ext uri="{0D108BD9-81ED-4DB2-BD59-A6C34878D82A}">
                    <a16:rowId xmlns:a16="http://schemas.microsoft.com/office/drawing/2014/main" val="2563131422"/>
                  </a:ext>
                </a:extLst>
              </a:tr>
              <a:tr h="370840">
                <a:tc>
                  <a:txBody>
                    <a:bodyPr/>
                    <a:lstStyle/>
                    <a:p>
                      <a:r>
                        <a:rPr lang="en-US" b="1" dirty="0" sz="1100"/>
                        <a:t>T</a:t>
                      </a:r>
                      <a:r>
                        <a:rPr lang="en-US" sz="1100" b="0" dirty="0"/>
                        <a:t>echnological</a:t>
                      </a:r>
                      <a:endParaRPr lang="en-US" b="0" dirty="0"/>
                    </a:p>
                  </a:txBody>
                  <a:tcPr/>
                </a:tc>
                <a:tc>
                  <a:txBody>
                    <a:bodyPr/>
                    <a:lstStyle/>
                    <a:p>
                      <a:r>
                        <a:rPr sz="1100"/>
                        <a:t>Moderate</a:t>
                      </a:r>
                      <a:endParaRPr lang="en-US" sz="1200" dirty="0"/>
                    </a:p>
                  </a:txBody>
                  <a:tcPr/>
                </a:tc>
                <a:tc>
                  <a:txBody>
                    <a:bodyPr/>
                    <a:lstStyle/>
                    <a:p>
                      <a:r>
                        <a:rPr sz="1100"/>
                        <a:t>Online shopping and the Lululemon app</a:t>
                      </a:r>
                      <a:endParaRPr lang="en-US" sz="1200" dirty="0"/>
                    </a:p>
                    <a:p>
                      <a:r>
                        <a:rPr sz="1100"/>
                        <a:t>New fabrics like Luon and Nulu</a:t>
                      </a:r>
                    </a:p>
                    <a:p>
                      <a:r>
                        <a:rPr sz="1100"/>
                        <a:t>At-home fitness (Mirror did not work out)</a:t>
                      </a:r>
                    </a:p>
                  </a:txBody>
                  <a:tcPr/>
                </a:tc>
                <a:extLst>
                  <a:ext uri="{0D108BD9-81ED-4DB2-BD59-A6C34878D82A}">
                    <a16:rowId xmlns:a16="http://schemas.microsoft.com/office/drawing/2014/main" val="1244304219"/>
                  </a:ext>
                </a:extLst>
              </a:tr>
              <a:tr h="370840">
                <a:tc>
                  <a:txBody>
                    <a:bodyPr/>
                    <a:lstStyle/>
                    <a:p>
                      <a:r>
                        <a:rPr lang="en-US" b="1" dirty="0" sz="1100"/>
                        <a:t>E</a:t>
                      </a:r>
                      <a:r>
                        <a:rPr lang="en-US" sz="1100" b="0" dirty="0"/>
                        <a:t>nvironmental</a:t>
                      </a:r>
                      <a:endParaRPr lang="en-US" b="1" dirty="0"/>
                    </a:p>
                  </a:txBody>
                  <a:tcPr/>
                </a:tc>
                <a:tc>
                  <a:txBody>
                    <a:bodyPr/>
                    <a:lstStyle/>
                    <a:p>
                      <a:r>
                        <a:rPr sz="1100"/>
                        <a:t>Moderate</a:t>
                      </a:r>
                      <a:endParaRPr lang="en-US" sz="1200" dirty="0"/>
                    </a:p>
                  </a:txBody>
                  <a:tcPr/>
                </a:tc>
                <a:tc>
                  <a:txBody>
                    <a:bodyPr/>
                    <a:lstStyle/>
                    <a:p>
                      <a:r>
                        <a:rPr sz="1100"/>
                        <a:t>Customers wanting more sustainable products</a:t>
                      </a:r>
                      <a:endParaRPr lang="en-US" sz="1200" dirty="0"/>
                    </a:p>
                    <a:p>
                      <a:r>
                        <a:rPr sz="1100"/>
                        <a:t>“Like New” resale program</a:t>
                      </a:r>
                    </a:p>
                    <a:p>
                      <a:r>
                        <a:rPr sz="1100"/>
                        <a:t>Climate issues affecting materials and shipping</a:t>
                      </a:r>
                    </a:p>
                  </a:txBody>
                  <a:tcPr/>
                </a:tc>
                <a:extLst>
                  <a:ext uri="{0D108BD9-81ED-4DB2-BD59-A6C34878D82A}">
                    <a16:rowId xmlns:a16="http://schemas.microsoft.com/office/drawing/2014/main" val="283285092"/>
                  </a:ext>
                </a:extLst>
              </a:tr>
              <a:tr h="370840">
                <a:tc>
                  <a:txBody>
                    <a:bodyPr/>
                    <a:lstStyle/>
                    <a:p>
                      <a:r>
                        <a:rPr lang="en-US" b="1" dirty="0" sz="1100"/>
                        <a:t>L</a:t>
                      </a:r>
                      <a:r>
                        <a:rPr lang="en-US" sz="1100" b="0" dirty="0"/>
                        <a:t>egal</a:t>
                      </a:r>
                      <a:endParaRPr lang="en-US" b="1" dirty="0"/>
                    </a:p>
                  </a:txBody>
                  <a:tcPr/>
                </a:tc>
                <a:tc>
                  <a:txBody>
                    <a:bodyPr/>
                    <a:lstStyle/>
                    <a:p>
                      <a:r>
                        <a:rPr sz="1100"/>
                        <a:t>Moderate</a:t>
                      </a:r>
                      <a:endParaRPr lang="en-US" sz="1200" dirty="0"/>
                    </a:p>
                  </a:txBody>
                  <a:tcPr/>
                </a:tc>
                <a:tc>
                  <a:txBody>
                    <a:bodyPr/>
                    <a:lstStyle/>
                    <a:p>
                      <a:r>
                        <a:rPr sz="1100"/>
                        <a:t>Lawsuits with Nike and Peloton</a:t>
                      </a:r>
                      <a:endParaRPr lang="en-US" sz="1200" dirty="0"/>
                    </a:p>
                    <a:p>
                      <a:r>
                        <a:rPr sz="1100"/>
                        <a:t>Product recalls (Breezethrough leggings, 2024)</a:t>
                      </a:r>
                    </a:p>
                    <a:p>
                      <a:r>
                        <a:rPr sz="1100"/>
                        <a:t>Factory labor rules and protecting designs from copies</a:t>
                      </a:r>
                    </a:p>
                  </a:txBody>
                  <a:tcPr/>
                </a:tc>
                <a:extLst>
                  <a:ext uri="{0D108BD9-81ED-4DB2-BD59-A6C34878D82A}">
                    <a16:rowId xmlns:a16="http://schemas.microsoft.com/office/drawing/2014/main" val="194623347"/>
                  </a:ext>
                </a:extLst>
              </a:tr>
            </a:tbl>
          </a:graphicData>
        </a:graphic>
      </p:graphicFrame>
    </p:spTree>
    <p:extLst>
      <p:ext uri="{BB962C8B-B14F-4D97-AF65-F5344CB8AC3E}">
        <p14:creationId xmlns:p14="http://schemas.microsoft.com/office/powerpoint/2010/main" val="958186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EE641-C831-4B90-8FDD-5C9BFBB6A542}"/>
              </a:ext>
            </a:extLst>
          </p:cNvPr>
          <p:cNvSpPr>
            <a:spLocks noGrp="1"/>
          </p:cNvSpPr>
          <p:nvPr>
            <p:ph type="title"/>
          </p:nvPr>
        </p:nvSpPr>
        <p:spPr>
          <a:xfrm>
            <a:off x="677266" y="182507"/>
            <a:ext cx="10982739" cy="703339"/>
          </a:xfrm>
        </p:spPr>
        <p:txBody>
          <a:bodyPr/>
          <a:lstStyle/>
          <a:p>
            <a:r>
              <a:rPr lang="en-US" dirty="0"/>
              <a:t>Internal Environment- Resources &amp; Capabilities</a:t>
            </a:r>
          </a:p>
        </p:txBody>
      </p:sp>
      <p:sp>
        <p:nvSpPr>
          <p:cNvPr id="11" name="Smiley Face 10">
            <a:extLst>
              <a:ext uri="{FF2B5EF4-FFF2-40B4-BE49-F238E27FC236}">
                <a16:creationId xmlns:a16="http://schemas.microsoft.com/office/drawing/2014/main" id="{521952CA-ED21-427C-B325-2FA286A58992}"/>
              </a:ext>
            </a:extLst>
          </p:cNvPr>
          <p:cNvSpPr/>
          <p:nvPr/>
        </p:nvSpPr>
        <p:spPr bwMode="auto">
          <a:xfrm>
            <a:off x="6000109" y="2395851"/>
            <a:ext cx="545690" cy="461666"/>
          </a:xfrm>
          <a:prstGeom prst="smileyFace">
            <a:avLst>
              <a:gd name="adj" fmla="val 4653"/>
            </a:avLst>
          </a:prstGeom>
          <a:solidFill>
            <a:srgbClr val="00B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12" name="Smiley Face 11">
            <a:extLst>
              <a:ext uri="{FF2B5EF4-FFF2-40B4-BE49-F238E27FC236}">
                <a16:creationId xmlns:a16="http://schemas.microsoft.com/office/drawing/2014/main" id="{C41E1384-3D43-4662-9103-F5E1421CB8CC}"/>
              </a:ext>
            </a:extLst>
          </p:cNvPr>
          <p:cNvSpPr/>
          <p:nvPr/>
        </p:nvSpPr>
        <p:spPr bwMode="auto">
          <a:xfrm>
            <a:off x="7164024" y="2407883"/>
            <a:ext cx="545690" cy="461666"/>
          </a:xfrm>
          <a:prstGeom prst="smileyFace">
            <a:avLst>
              <a:gd name="adj" fmla="val 4653"/>
            </a:avLst>
          </a:prstGeom>
          <a:solidFill>
            <a:srgbClr val="00B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13" name="Smiley Face 12">
            <a:extLst>
              <a:ext uri="{FF2B5EF4-FFF2-40B4-BE49-F238E27FC236}">
                <a16:creationId xmlns:a16="http://schemas.microsoft.com/office/drawing/2014/main" id="{4B05C40D-13C2-4F53-8451-6E45965EBCD7}"/>
              </a:ext>
            </a:extLst>
          </p:cNvPr>
          <p:cNvSpPr/>
          <p:nvPr/>
        </p:nvSpPr>
        <p:spPr bwMode="auto">
          <a:xfrm>
            <a:off x="9423932" y="2386022"/>
            <a:ext cx="545690" cy="461666"/>
          </a:xfrm>
          <a:prstGeom prst="smileyFace">
            <a:avLst>
              <a:gd name="adj" fmla="val -4653"/>
            </a:avLst>
          </a:prstGeom>
          <a:solidFill>
            <a:srgbClr val="FF0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15" name="Text Placeholder 1">
            <a:extLst>
              <a:ext uri="{FF2B5EF4-FFF2-40B4-BE49-F238E27FC236}">
                <a16:creationId xmlns:a16="http://schemas.microsoft.com/office/drawing/2014/main" id="{1DED36F8-5950-4787-BFED-7F5955DCE065}"/>
              </a:ext>
            </a:extLst>
          </p:cNvPr>
          <p:cNvSpPr txBox="1">
            <a:spLocks/>
          </p:cNvSpPr>
          <p:nvPr/>
        </p:nvSpPr>
        <p:spPr bwMode="auto">
          <a:xfrm>
            <a:off x="2493152" y="2512910"/>
            <a:ext cx="2300443" cy="2777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8925" indent="-288925" algn="l" rtl="0" eaLnBrk="0" fontAlgn="base" hangingPunct="0">
              <a:spcBef>
                <a:spcPct val="20000"/>
              </a:spcBef>
              <a:spcAft>
                <a:spcPct val="0"/>
              </a:spcAft>
              <a:buClrTx/>
              <a:buSzPct val="100000"/>
              <a:buFont typeface="Arial" charset="0"/>
              <a:buChar char="♦"/>
              <a:defRPr lang="en-US" sz="2800">
                <a:solidFill>
                  <a:srgbClr val="800000"/>
                </a:solidFill>
                <a:effectLst>
                  <a:outerShdw blurRad="38100" dist="38100" dir="2700000" algn="tl">
                    <a:srgbClr val="C0C0C0"/>
                  </a:outerShdw>
                </a:effectLst>
                <a:latin typeface="+mn-lt"/>
                <a:ea typeface="+mn-ea"/>
                <a:cs typeface="+mn-cs"/>
              </a:defRPr>
            </a:lvl1pPr>
            <a:lvl2pPr marL="685800" indent="-282575" algn="l" rtl="0" eaLnBrk="0" fontAlgn="base" hangingPunct="0">
              <a:spcBef>
                <a:spcPct val="20000"/>
              </a:spcBef>
              <a:spcAft>
                <a:spcPct val="0"/>
              </a:spcAft>
              <a:buClrTx/>
              <a:buSzPct val="80000"/>
              <a:buFont typeface="Arial" charset="0"/>
              <a:buChar char="●"/>
              <a:defRPr lang="en-US" sz="2400">
                <a:solidFill>
                  <a:srgbClr val="006666"/>
                </a:solidFill>
                <a:effectLst>
                  <a:outerShdw blurRad="38100" dist="38100" dir="2700000" algn="tl">
                    <a:srgbClr val="C0C0C0"/>
                  </a:outerShdw>
                </a:effectLst>
                <a:latin typeface="+mn-lt"/>
              </a:defRPr>
            </a:lvl2pPr>
            <a:lvl3pPr marL="1143000" indent="-282575" algn="l" rtl="0" eaLnBrk="0" fontAlgn="base" hangingPunct="0">
              <a:spcBef>
                <a:spcPct val="20000"/>
              </a:spcBef>
              <a:spcAft>
                <a:spcPct val="0"/>
              </a:spcAft>
              <a:buClrTx/>
              <a:buSzPct val="65000"/>
              <a:buFont typeface="Wingdings 3" pitchFamily="18" charset="2"/>
              <a:buChar char="u"/>
              <a:defRPr lang="en-US" sz="2000">
                <a:solidFill>
                  <a:schemeClr val="tx1"/>
                </a:solidFill>
                <a:effectLst>
                  <a:outerShdw blurRad="38100" dist="38100" dir="2700000" algn="tl">
                    <a:srgbClr val="C0C0C0"/>
                  </a:outerShdw>
                </a:effectLst>
                <a:latin typeface="+mn-lt"/>
              </a:defRPr>
            </a:lvl3pPr>
            <a:lvl4pPr marL="1600200" indent="-282575" algn="l" rtl="0" eaLnBrk="0" fontAlgn="base" hangingPunct="0">
              <a:spcBef>
                <a:spcPct val="20000"/>
              </a:spcBef>
              <a:spcAft>
                <a:spcPct val="0"/>
              </a:spcAft>
              <a:buClr>
                <a:srgbClr val="CC6600"/>
              </a:buClr>
              <a:buSzPct val="65000"/>
              <a:buFont typeface="Wingdings 3" pitchFamily="18" charset="2"/>
              <a:buChar char="u"/>
              <a:defRPr lang="en-US" sz="2000" dirty="0">
                <a:solidFill>
                  <a:srgbClr val="006666"/>
                </a:solidFill>
                <a:effectLst>
                  <a:outerShdw blurRad="38100" dist="38100" dir="2700000" algn="tl">
                    <a:srgbClr val="C0C0C0"/>
                  </a:outerShdw>
                </a:effectLst>
                <a:latin typeface="+mn-lt"/>
              </a:defRPr>
            </a:lvl4pPr>
            <a:lvl5pPr marL="2068513" indent="-284163" algn="l" rtl="0" eaLnBrk="0" fontAlgn="base" hangingPunct="0">
              <a:spcBef>
                <a:spcPct val="20000"/>
              </a:spcBef>
              <a:spcAft>
                <a:spcPct val="0"/>
              </a:spcAft>
              <a:buClr>
                <a:srgbClr val="CC6600"/>
              </a:buClr>
              <a:buSzPct val="65000"/>
              <a:buFont typeface="Wingdings 3" pitchFamily="18" charset="2"/>
              <a:buChar char="u"/>
              <a:defRPr lang="en-US" dirty="0">
                <a:solidFill>
                  <a:srgbClr val="006666"/>
                </a:solidFill>
                <a:effectLst>
                  <a:outerShdw blurRad="38100" dist="38100" dir="2700000" algn="tl">
                    <a:srgbClr val="C0C0C0"/>
                  </a:outerShdw>
                </a:effectLst>
                <a:latin typeface="+mn-lt"/>
              </a:defRPr>
            </a:lvl5pPr>
            <a:lvl6pPr marL="2692400" indent="-290513" algn="l" rtl="0" fontAlgn="base">
              <a:spcBef>
                <a:spcPct val="20000"/>
              </a:spcBef>
              <a:spcAft>
                <a:spcPct val="0"/>
              </a:spcAft>
              <a:buClr>
                <a:srgbClr val="CC6C18"/>
              </a:buClr>
              <a:buFont typeface="Arial" charset="0"/>
              <a:buChar char="»"/>
              <a:defRPr sz="2000">
                <a:solidFill>
                  <a:srgbClr val="216471"/>
                </a:solidFill>
                <a:latin typeface="+mn-lt"/>
              </a:defRPr>
            </a:lvl6pPr>
            <a:lvl7pPr marL="3149600" indent="-290513" algn="l" rtl="0" fontAlgn="base">
              <a:spcBef>
                <a:spcPct val="20000"/>
              </a:spcBef>
              <a:spcAft>
                <a:spcPct val="0"/>
              </a:spcAft>
              <a:buClr>
                <a:srgbClr val="CC6C18"/>
              </a:buClr>
              <a:buFont typeface="Arial" charset="0"/>
              <a:buChar char="»"/>
              <a:defRPr sz="2000">
                <a:solidFill>
                  <a:srgbClr val="216471"/>
                </a:solidFill>
                <a:latin typeface="+mn-lt"/>
              </a:defRPr>
            </a:lvl7pPr>
            <a:lvl8pPr marL="3606800" indent="-290513" algn="l" rtl="0" fontAlgn="base">
              <a:spcBef>
                <a:spcPct val="20000"/>
              </a:spcBef>
              <a:spcAft>
                <a:spcPct val="0"/>
              </a:spcAft>
              <a:buClr>
                <a:srgbClr val="CC6C18"/>
              </a:buClr>
              <a:buFont typeface="Arial" charset="0"/>
              <a:buChar char="»"/>
              <a:defRPr sz="2000">
                <a:solidFill>
                  <a:srgbClr val="216471"/>
                </a:solidFill>
                <a:latin typeface="+mn-lt"/>
              </a:defRPr>
            </a:lvl8pPr>
            <a:lvl9pPr marL="4064000" indent="-290513" algn="l" rtl="0" fontAlgn="base">
              <a:spcBef>
                <a:spcPct val="20000"/>
              </a:spcBef>
              <a:spcAft>
                <a:spcPct val="0"/>
              </a:spcAft>
              <a:buClr>
                <a:srgbClr val="CC6C18"/>
              </a:buClr>
              <a:buFont typeface="Arial" charset="0"/>
              <a:buChar char="»"/>
              <a:defRPr sz="2000">
                <a:solidFill>
                  <a:srgbClr val="216471"/>
                </a:solidFill>
                <a:latin typeface="+mn-lt"/>
              </a:defRPr>
            </a:lvl9pPr>
          </a:lstStyle>
          <a:p>
            <a:pPr marL="403225" lvl="1" indent="0">
              <a:buFont typeface="Arial" charset="0"/>
              <a:buNone/>
            </a:pPr>
            <a:r>
              <a:rPr lang="en-US" sz="1600" kern="0" dirty="0">
                <a:solidFill>
                  <a:schemeClr val="tx1"/>
                </a:solidFill>
                <a:effectLst/>
              </a:rPr>
              <a:t>Brand Name</a:t>
            </a:r>
          </a:p>
          <a:p>
            <a:pPr marL="403225" lvl="1" indent="0">
              <a:buFont typeface="Arial" charset="0"/>
              <a:buNone/>
            </a:pPr>
            <a:endParaRPr lang="en-US" sz="1600" u="sng" kern="0" dirty="0">
              <a:solidFill>
                <a:schemeClr val="tx1"/>
              </a:solidFill>
            </a:endParaRPr>
          </a:p>
          <a:p>
            <a:pPr marL="403225" lvl="1" indent="0">
              <a:buFont typeface="Arial" charset="0"/>
              <a:buNone/>
            </a:pPr>
            <a:r>
              <a:rPr lang="en-US" sz="1600" kern="0" dirty="0">
                <a:solidFill>
                  <a:schemeClr val="tx1"/>
                </a:solidFill>
                <a:effectLst/>
              </a:rPr>
              <a:t>Ceramic Kiln</a:t>
            </a:r>
          </a:p>
          <a:p>
            <a:pPr marL="403225" lvl="1" indent="0">
              <a:buFont typeface="Arial" charset="0"/>
              <a:buNone/>
            </a:pPr>
            <a:endParaRPr lang="en-US" sz="1600" kern="0" dirty="0">
              <a:solidFill>
                <a:schemeClr val="tx1"/>
              </a:solidFill>
              <a:effectLst/>
            </a:endParaRPr>
          </a:p>
          <a:p>
            <a:pPr marL="403225" lvl="1" indent="0">
              <a:buFont typeface="Arial" charset="0"/>
              <a:buNone/>
            </a:pPr>
            <a:r>
              <a:rPr lang="en-US" sz="1600" kern="0" dirty="0">
                <a:solidFill>
                  <a:schemeClr val="tx1"/>
                </a:solidFill>
                <a:effectLst/>
              </a:rPr>
              <a:t>Ceramic Design Ability</a:t>
            </a:r>
          </a:p>
          <a:p>
            <a:pPr marL="403225" lvl="1" indent="0">
              <a:buFont typeface="Arial" charset="0"/>
              <a:buNone/>
            </a:pPr>
            <a:endParaRPr lang="en-US" sz="1600" kern="0" dirty="0">
              <a:solidFill>
                <a:schemeClr val="tx1"/>
              </a:solidFill>
              <a:effectLst/>
            </a:endParaRPr>
          </a:p>
          <a:p>
            <a:pPr marL="403225" lvl="1" indent="0">
              <a:buFont typeface="Arial" charset="0"/>
              <a:buNone/>
            </a:pPr>
            <a:r>
              <a:rPr lang="en-US" sz="1600" kern="0" dirty="0">
                <a:solidFill>
                  <a:schemeClr val="tx1"/>
                </a:solidFill>
                <a:effectLst/>
              </a:rPr>
              <a:t>Other Significant Resources or Capabilities</a:t>
            </a:r>
          </a:p>
        </p:txBody>
      </p:sp>
      <p:sp>
        <p:nvSpPr>
          <p:cNvPr id="16" name="Smiley Face 15">
            <a:extLst>
              <a:ext uri="{FF2B5EF4-FFF2-40B4-BE49-F238E27FC236}">
                <a16:creationId xmlns:a16="http://schemas.microsoft.com/office/drawing/2014/main" id="{A03875BC-ADCE-4CBD-A080-B094167C71EE}"/>
              </a:ext>
            </a:extLst>
          </p:cNvPr>
          <p:cNvSpPr/>
          <p:nvPr/>
        </p:nvSpPr>
        <p:spPr bwMode="auto">
          <a:xfrm>
            <a:off x="6020163" y="3053581"/>
            <a:ext cx="545690" cy="461666"/>
          </a:xfrm>
          <a:prstGeom prst="smileyFace">
            <a:avLst>
              <a:gd name="adj" fmla="val 4653"/>
            </a:avLst>
          </a:prstGeom>
          <a:solidFill>
            <a:srgbClr val="00B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17" name="Smiley Face 16">
            <a:extLst>
              <a:ext uri="{FF2B5EF4-FFF2-40B4-BE49-F238E27FC236}">
                <a16:creationId xmlns:a16="http://schemas.microsoft.com/office/drawing/2014/main" id="{CDCB1AE5-B9D5-4317-856D-121F19367123}"/>
              </a:ext>
            </a:extLst>
          </p:cNvPr>
          <p:cNvSpPr/>
          <p:nvPr/>
        </p:nvSpPr>
        <p:spPr bwMode="auto">
          <a:xfrm>
            <a:off x="8238657" y="3058365"/>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18" name="Smiley Face 17">
            <a:extLst>
              <a:ext uri="{FF2B5EF4-FFF2-40B4-BE49-F238E27FC236}">
                <a16:creationId xmlns:a16="http://schemas.microsoft.com/office/drawing/2014/main" id="{1BEF5B16-0D9A-4639-90E2-ED552EACAE47}"/>
              </a:ext>
            </a:extLst>
          </p:cNvPr>
          <p:cNvSpPr/>
          <p:nvPr/>
        </p:nvSpPr>
        <p:spPr bwMode="auto">
          <a:xfrm>
            <a:off x="9443986" y="3043752"/>
            <a:ext cx="545690" cy="461666"/>
          </a:xfrm>
          <a:prstGeom prst="smileyFace">
            <a:avLst>
              <a:gd name="adj" fmla="val -4653"/>
            </a:avLst>
          </a:prstGeom>
          <a:solidFill>
            <a:srgbClr val="FF0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19" name="Smiley Face 18">
            <a:extLst>
              <a:ext uri="{FF2B5EF4-FFF2-40B4-BE49-F238E27FC236}">
                <a16:creationId xmlns:a16="http://schemas.microsoft.com/office/drawing/2014/main" id="{7F74AC66-5E51-463B-B836-A30C6B817F62}"/>
              </a:ext>
            </a:extLst>
          </p:cNvPr>
          <p:cNvSpPr/>
          <p:nvPr/>
        </p:nvSpPr>
        <p:spPr bwMode="auto">
          <a:xfrm>
            <a:off x="6020158" y="3727351"/>
            <a:ext cx="545690" cy="461666"/>
          </a:xfrm>
          <a:prstGeom prst="smileyFace">
            <a:avLst>
              <a:gd name="adj" fmla="val 4653"/>
            </a:avLst>
          </a:prstGeom>
          <a:solidFill>
            <a:srgbClr val="00B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20" name="Smiley Face 19">
            <a:extLst>
              <a:ext uri="{FF2B5EF4-FFF2-40B4-BE49-F238E27FC236}">
                <a16:creationId xmlns:a16="http://schemas.microsoft.com/office/drawing/2014/main" id="{B3C34B27-9D69-421F-ABD6-D199295CEA84}"/>
              </a:ext>
            </a:extLst>
          </p:cNvPr>
          <p:cNvSpPr/>
          <p:nvPr/>
        </p:nvSpPr>
        <p:spPr bwMode="auto">
          <a:xfrm>
            <a:off x="7184073" y="3739383"/>
            <a:ext cx="545690" cy="461666"/>
          </a:xfrm>
          <a:prstGeom prst="smileyFace">
            <a:avLst>
              <a:gd name="adj" fmla="val 4653"/>
            </a:avLst>
          </a:prstGeom>
          <a:solidFill>
            <a:srgbClr val="00B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21" name="Smiley Face 20">
            <a:extLst>
              <a:ext uri="{FF2B5EF4-FFF2-40B4-BE49-F238E27FC236}">
                <a16:creationId xmlns:a16="http://schemas.microsoft.com/office/drawing/2014/main" id="{F76E4222-BDEB-4824-93BA-7B534977A6A0}"/>
              </a:ext>
            </a:extLst>
          </p:cNvPr>
          <p:cNvSpPr/>
          <p:nvPr/>
        </p:nvSpPr>
        <p:spPr bwMode="auto">
          <a:xfrm>
            <a:off x="8238652" y="3732135"/>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22" name="Smiley Face 21">
            <a:extLst>
              <a:ext uri="{FF2B5EF4-FFF2-40B4-BE49-F238E27FC236}">
                <a16:creationId xmlns:a16="http://schemas.microsoft.com/office/drawing/2014/main" id="{C2BAB5BB-317B-447E-AA46-77937E543AA0}"/>
              </a:ext>
            </a:extLst>
          </p:cNvPr>
          <p:cNvSpPr/>
          <p:nvPr/>
        </p:nvSpPr>
        <p:spPr bwMode="auto">
          <a:xfrm>
            <a:off x="8226753" y="2403867"/>
            <a:ext cx="545690" cy="461666"/>
          </a:xfrm>
          <a:prstGeom prst="smileyFace">
            <a:avLst>
              <a:gd name="adj" fmla="val 4653"/>
            </a:avLst>
          </a:prstGeom>
          <a:solidFill>
            <a:srgbClr val="00B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23" name="Smiley Face 22">
            <a:extLst>
              <a:ext uri="{FF2B5EF4-FFF2-40B4-BE49-F238E27FC236}">
                <a16:creationId xmlns:a16="http://schemas.microsoft.com/office/drawing/2014/main" id="{D8BDD8D4-475A-46DE-85DB-6284AC4995E9}"/>
              </a:ext>
            </a:extLst>
          </p:cNvPr>
          <p:cNvSpPr/>
          <p:nvPr/>
        </p:nvSpPr>
        <p:spPr bwMode="auto">
          <a:xfrm>
            <a:off x="9459640" y="3740154"/>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24" name="Smiley Face 23">
            <a:extLst>
              <a:ext uri="{FF2B5EF4-FFF2-40B4-BE49-F238E27FC236}">
                <a16:creationId xmlns:a16="http://schemas.microsoft.com/office/drawing/2014/main" id="{C25EF790-FEA4-4F3A-B63F-789DA8EEC4D7}"/>
              </a:ext>
            </a:extLst>
          </p:cNvPr>
          <p:cNvSpPr/>
          <p:nvPr/>
        </p:nvSpPr>
        <p:spPr bwMode="auto">
          <a:xfrm>
            <a:off x="7155876" y="3042320"/>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grpSp>
        <p:nvGrpSpPr>
          <p:cNvPr id="3" name="Group 2">
            <a:extLst>
              <a:ext uri="{FF2B5EF4-FFF2-40B4-BE49-F238E27FC236}">
                <a16:creationId xmlns:a16="http://schemas.microsoft.com/office/drawing/2014/main" id="{D843A1BD-D617-4C73-B08A-98B386824C16}"/>
              </a:ext>
            </a:extLst>
          </p:cNvPr>
          <p:cNvGrpSpPr/>
          <p:nvPr/>
        </p:nvGrpSpPr>
        <p:grpSpPr>
          <a:xfrm>
            <a:off x="2366573" y="1287905"/>
            <a:ext cx="8644993" cy="1225005"/>
            <a:chOff x="2366573" y="1287905"/>
            <a:chExt cx="8644993" cy="1225005"/>
          </a:xfrm>
        </p:grpSpPr>
        <p:sp>
          <p:nvSpPr>
            <p:cNvPr id="7" name="TextBox 6">
              <a:extLst>
                <a:ext uri="{FF2B5EF4-FFF2-40B4-BE49-F238E27FC236}">
                  <a16:creationId xmlns:a16="http://schemas.microsoft.com/office/drawing/2014/main" id="{DE365AD2-7186-4079-9F8C-5AB14A59464D}"/>
                </a:ext>
              </a:extLst>
            </p:cNvPr>
            <p:cNvSpPr txBox="1"/>
            <p:nvPr/>
          </p:nvSpPr>
          <p:spPr>
            <a:xfrm>
              <a:off x="5247760" y="1287905"/>
              <a:ext cx="1781504" cy="523220"/>
            </a:xfrm>
            <a:prstGeom prst="rect">
              <a:avLst/>
            </a:prstGeom>
            <a:noFill/>
          </p:spPr>
          <p:txBody>
            <a:bodyPr wrap="square" rtlCol="0">
              <a:spAutoFit/>
            </a:bodyPr>
            <a:lstStyle/>
            <a:p>
              <a:pPr algn="ctr"/>
              <a:r>
                <a:rPr lang="en-US" sz="2800" b="1" dirty="0"/>
                <a:t>VRIN Test</a:t>
              </a:r>
            </a:p>
          </p:txBody>
        </p:sp>
        <p:sp>
          <p:nvSpPr>
            <p:cNvPr id="14" name="Text Placeholder 1">
              <a:extLst>
                <a:ext uri="{FF2B5EF4-FFF2-40B4-BE49-F238E27FC236}">
                  <a16:creationId xmlns:a16="http://schemas.microsoft.com/office/drawing/2014/main" id="{0FA022F2-82EF-4F23-9B94-5E9A7D0376CA}"/>
                </a:ext>
              </a:extLst>
            </p:cNvPr>
            <p:cNvSpPr txBox="1">
              <a:spLocks/>
            </p:cNvSpPr>
            <p:nvPr/>
          </p:nvSpPr>
          <p:spPr bwMode="auto">
            <a:xfrm>
              <a:off x="2366573" y="1866579"/>
              <a:ext cx="1804738" cy="6463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8925" indent="-288925" algn="l" rtl="0" eaLnBrk="0" fontAlgn="base" hangingPunct="0">
                <a:spcBef>
                  <a:spcPct val="20000"/>
                </a:spcBef>
                <a:spcAft>
                  <a:spcPct val="0"/>
                </a:spcAft>
                <a:buClrTx/>
                <a:buSzPct val="100000"/>
                <a:buFont typeface="Arial" charset="0"/>
                <a:buChar char="♦"/>
                <a:defRPr lang="en-US" sz="2800">
                  <a:solidFill>
                    <a:srgbClr val="800000"/>
                  </a:solidFill>
                  <a:effectLst>
                    <a:outerShdw blurRad="38100" dist="38100" dir="2700000" algn="tl">
                      <a:srgbClr val="C0C0C0"/>
                    </a:outerShdw>
                  </a:effectLst>
                  <a:latin typeface="+mn-lt"/>
                  <a:ea typeface="+mn-ea"/>
                  <a:cs typeface="+mn-cs"/>
                </a:defRPr>
              </a:lvl1pPr>
              <a:lvl2pPr marL="685800" indent="-282575" algn="l" rtl="0" eaLnBrk="0" fontAlgn="base" hangingPunct="0">
                <a:spcBef>
                  <a:spcPct val="20000"/>
                </a:spcBef>
                <a:spcAft>
                  <a:spcPct val="0"/>
                </a:spcAft>
                <a:buClrTx/>
                <a:buSzPct val="80000"/>
                <a:buFont typeface="Arial" charset="0"/>
                <a:buChar char="●"/>
                <a:defRPr lang="en-US" sz="2400">
                  <a:solidFill>
                    <a:srgbClr val="006666"/>
                  </a:solidFill>
                  <a:effectLst>
                    <a:outerShdw blurRad="38100" dist="38100" dir="2700000" algn="tl">
                      <a:srgbClr val="C0C0C0"/>
                    </a:outerShdw>
                  </a:effectLst>
                  <a:latin typeface="+mn-lt"/>
                </a:defRPr>
              </a:lvl2pPr>
              <a:lvl3pPr marL="1143000" indent="-282575" algn="l" rtl="0" eaLnBrk="0" fontAlgn="base" hangingPunct="0">
                <a:spcBef>
                  <a:spcPct val="20000"/>
                </a:spcBef>
                <a:spcAft>
                  <a:spcPct val="0"/>
                </a:spcAft>
                <a:buClrTx/>
                <a:buSzPct val="65000"/>
                <a:buFont typeface="Wingdings 3" pitchFamily="18" charset="2"/>
                <a:buChar char="u"/>
                <a:defRPr lang="en-US" sz="2000">
                  <a:solidFill>
                    <a:schemeClr val="tx1"/>
                  </a:solidFill>
                  <a:effectLst>
                    <a:outerShdw blurRad="38100" dist="38100" dir="2700000" algn="tl">
                      <a:srgbClr val="C0C0C0"/>
                    </a:outerShdw>
                  </a:effectLst>
                  <a:latin typeface="+mn-lt"/>
                </a:defRPr>
              </a:lvl3pPr>
              <a:lvl4pPr marL="1600200" indent="-282575" algn="l" rtl="0" eaLnBrk="0" fontAlgn="base" hangingPunct="0">
                <a:spcBef>
                  <a:spcPct val="20000"/>
                </a:spcBef>
                <a:spcAft>
                  <a:spcPct val="0"/>
                </a:spcAft>
                <a:buClr>
                  <a:srgbClr val="CC6600"/>
                </a:buClr>
                <a:buSzPct val="65000"/>
                <a:buFont typeface="Wingdings 3" pitchFamily="18" charset="2"/>
                <a:buChar char="u"/>
                <a:defRPr lang="en-US" sz="2000" dirty="0">
                  <a:solidFill>
                    <a:srgbClr val="006666"/>
                  </a:solidFill>
                  <a:effectLst>
                    <a:outerShdw blurRad="38100" dist="38100" dir="2700000" algn="tl">
                      <a:srgbClr val="C0C0C0"/>
                    </a:outerShdw>
                  </a:effectLst>
                  <a:latin typeface="+mn-lt"/>
                </a:defRPr>
              </a:lvl4pPr>
              <a:lvl5pPr marL="2068513" indent="-284163" algn="l" rtl="0" eaLnBrk="0" fontAlgn="base" hangingPunct="0">
                <a:spcBef>
                  <a:spcPct val="20000"/>
                </a:spcBef>
                <a:spcAft>
                  <a:spcPct val="0"/>
                </a:spcAft>
                <a:buClr>
                  <a:srgbClr val="CC6600"/>
                </a:buClr>
                <a:buSzPct val="65000"/>
                <a:buFont typeface="Wingdings 3" pitchFamily="18" charset="2"/>
                <a:buChar char="u"/>
                <a:defRPr lang="en-US" dirty="0">
                  <a:solidFill>
                    <a:srgbClr val="006666"/>
                  </a:solidFill>
                  <a:effectLst>
                    <a:outerShdw blurRad="38100" dist="38100" dir="2700000" algn="tl">
                      <a:srgbClr val="C0C0C0"/>
                    </a:outerShdw>
                  </a:effectLst>
                  <a:latin typeface="+mn-lt"/>
                </a:defRPr>
              </a:lvl5pPr>
              <a:lvl6pPr marL="2692400" indent="-290513" algn="l" rtl="0" fontAlgn="base">
                <a:spcBef>
                  <a:spcPct val="20000"/>
                </a:spcBef>
                <a:spcAft>
                  <a:spcPct val="0"/>
                </a:spcAft>
                <a:buClr>
                  <a:srgbClr val="CC6C18"/>
                </a:buClr>
                <a:buFont typeface="Arial" charset="0"/>
                <a:buChar char="»"/>
                <a:defRPr sz="2000">
                  <a:solidFill>
                    <a:srgbClr val="216471"/>
                  </a:solidFill>
                  <a:latin typeface="+mn-lt"/>
                </a:defRPr>
              </a:lvl6pPr>
              <a:lvl7pPr marL="3149600" indent="-290513" algn="l" rtl="0" fontAlgn="base">
                <a:spcBef>
                  <a:spcPct val="20000"/>
                </a:spcBef>
                <a:spcAft>
                  <a:spcPct val="0"/>
                </a:spcAft>
                <a:buClr>
                  <a:srgbClr val="CC6C18"/>
                </a:buClr>
                <a:buFont typeface="Arial" charset="0"/>
                <a:buChar char="»"/>
                <a:defRPr sz="2000">
                  <a:solidFill>
                    <a:srgbClr val="216471"/>
                  </a:solidFill>
                  <a:latin typeface="+mn-lt"/>
                </a:defRPr>
              </a:lvl7pPr>
              <a:lvl8pPr marL="3606800" indent="-290513" algn="l" rtl="0" fontAlgn="base">
                <a:spcBef>
                  <a:spcPct val="20000"/>
                </a:spcBef>
                <a:spcAft>
                  <a:spcPct val="0"/>
                </a:spcAft>
                <a:buClr>
                  <a:srgbClr val="CC6C18"/>
                </a:buClr>
                <a:buFont typeface="Arial" charset="0"/>
                <a:buChar char="»"/>
                <a:defRPr sz="2000">
                  <a:solidFill>
                    <a:srgbClr val="216471"/>
                  </a:solidFill>
                  <a:latin typeface="+mn-lt"/>
                </a:defRPr>
              </a:lvl8pPr>
              <a:lvl9pPr marL="4064000" indent="-290513" algn="l" rtl="0" fontAlgn="base">
                <a:spcBef>
                  <a:spcPct val="20000"/>
                </a:spcBef>
                <a:spcAft>
                  <a:spcPct val="0"/>
                </a:spcAft>
                <a:buClr>
                  <a:srgbClr val="CC6C18"/>
                </a:buClr>
                <a:buFont typeface="Arial" charset="0"/>
                <a:buChar char="»"/>
                <a:defRPr sz="2000">
                  <a:solidFill>
                    <a:srgbClr val="216471"/>
                  </a:solidFill>
                  <a:latin typeface="+mn-lt"/>
                </a:defRPr>
              </a:lvl9pPr>
            </a:lstStyle>
            <a:p>
              <a:pPr marL="403225" lvl="1" indent="0" algn="ctr">
                <a:buFont typeface="Arial" charset="0"/>
                <a:buNone/>
              </a:pPr>
              <a:r>
                <a:rPr lang="en-US" sz="1600" b="1" kern="0" dirty="0">
                  <a:effectLst/>
                  <a:latin typeface="Arial"/>
                </a:rPr>
                <a:t>Competitive</a:t>
              </a:r>
              <a:r>
                <a:rPr lang="en-US" sz="1600" b="1" u="sng" kern="0" dirty="0">
                  <a:effectLst/>
                  <a:latin typeface="Arial"/>
                </a:rPr>
                <a:t> </a:t>
              </a:r>
            </a:p>
            <a:p>
              <a:pPr marL="403225" lvl="1" indent="0" algn="ctr">
                <a:buFont typeface="Arial" charset="0"/>
                <a:buNone/>
              </a:pPr>
              <a:r>
                <a:rPr lang="en-US" sz="1600" b="1" u="sng" kern="0" dirty="0">
                  <a:effectLst/>
                  <a:latin typeface="Arial"/>
                </a:rPr>
                <a:t>Asset</a:t>
              </a:r>
            </a:p>
          </p:txBody>
        </p:sp>
        <p:sp>
          <p:nvSpPr>
            <p:cNvPr id="27" name="Text Placeholder 1">
              <a:extLst>
                <a:ext uri="{FF2B5EF4-FFF2-40B4-BE49-F238E27FC236}">
                  <a16:creationId xmlns:a16="http://schemas.microsoft.com/office/drawing/2014/main" id="{EBD3864B-BCD7-428D-BDCD-E9C09F9442E1}"/>
                </a:ext>
              </a:extLst>
            </p:cNvPr>
            <p:cNvSpPr txBox="1">
              <a:spLocks/>
            </p:cNvSpPr>
            <p:nvPr/>
          </p:nvSpPr>
          <p:spPr bwMode="auto">
            <a:xfrm>
              <a:off x="5415879" y="1951487"/>
              <a:ext cx="5595687" cy="4579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88925" indent="-288925" algn="l" rtl="0" eaLnBrk="0" fontAlgn="base" hangingPunct="0">
                <a:spcBef>
                  <a:spcPct val="20000"/>
                </a:spcBef>
                <a:spcAft>
                  <a:spcPct val="0"/>
                </a:spcAft>
                <a:buClrTx/>
                <a:buSzPct val="100000"/>
                <a:buFont typeface="Arial" charset="0"/>
                <a:buChar char="♦"/>
                <a:defRPr lang="en-US" sz="2800">
                  <a:solidFill>
                    <a:srgbClr val="800000"/>
                  </a:solidFill>
                  <a:effectLst>
                    <a:outerShdw blurRad="38100" dist="38100" dir="2700000" algn="tl">
                      <a:srgbClr val="C0C0C0"/>
                    </a:outerShdw>
                  </a:effectLst>
                  <a:latin typeface="+mn-lt"/>
                  <a:ea typeface="+mn-ea"/>
                  <a:cs typeface="+mn-cs"/>
                </a:defRPr>
              </a:lvl1pPr>
              <a:lvl2pPr marL="685800" indent="-282575" algn="l" rtl="0" eaLnBrk="0" fontAlgn="base" hangingPunct="0">
                <a:spcBef>
                  <a:spcPct val="20000"/>
                </a:spcBef>
                <a:spcAft>
                  <a:spcPct val="0"/>
                </a:spcAft>
                <a:buClrTx/>
                <a:buSzPct val="80000"/>
                <a:buFont typeface="Arial" charset="0"/>
                <a:buChar char="●"/>
                <a:defRPr lang="en-US" sz="2400">
                  <a:solidFill>
                    <a:srgbClr val="006666"/>
                  </a:solidFill>
                  <a:effectLst>
                    <a:outerShdw blurRad="38100" dist="38100" dir="2700000" algn="tl">
                      <a:srgbClr val="C0C0C0"/>
                    </a:outerShdw>
                  </a:effectLst>
                  <a:latin typeface="+mn-lt"/>
                </a:defRPr>
              </a:lvl2pPr>
              <a:lvl3pPr marL="1143000" indent="-282575" algn="l" rtl="0" eaLnBrk="0" fontAlgn="base" hangingPunct="0">
                <a:spcBef>
                  <a:spcPct val="20000"/>
                </a:spcBef>
                <a:spcAft>
                  <a:spcPct val="0"/>
                </a:spcAft>
                <a:buClrTx/>
                <a:buSzPct val="65000"/>
                <a:buFont typeface="Wingdings 3" pitchFamily="18" charset="2"/>
                <a:buChar char="u"/>
                <a:defRPr lang="en-US" sz="2000">
                  <a:solidFill>
                    <a:schemeClr val="tx1"/>
                  </a:solidFill>
                  <a:effectLst>
                    <a:outerShdw blurRad="38100" dist="38100" dir="2700000" algn="tl">
                      <a:srgbClr val="C0C0C0"/>
                    </a:outerShdw>
                  </a:effectLst>
                  <a:latin typeface="+mn-lt"/>
                </a:defRPr>
              </a:lvl3pPr>
              <a:lvl4pPr marL="1600200" indent="-282575" algn="l" rtl="0" eaLnBrk="0" fontAlgn="base" hangingPunct="0">
                <a:spcBef>
                  <a:spcPct val="20000"/>
                </a:spcBef>
                <a:spcAft>
                  <a:spcPct val="0"/>
                </a:spcAft>
                <a:buClr>
                  <a:srgbClr val="CC6600"/>
                </a:buClr>
                <a:buSzPct val="65000"/>
                <a:buFont typeface="Wingdings 3" pitchFamily="18" charset="2"/>
                <a:buChar char="u"/>
                <a:defRPr lang="en-US" sz="2000" dirty="0">
                  <a:solidFill>
                    <a:srgbClr val="006666"/>
                  </a:solidFill>
                  <a:effectLst>
                    <a:outerShdw blurRad="38100" dist="38100" dir="2700000" algn="tl">
                      <a:srgbClr val="C0C0C0"/>
                    </a:outerShdw>
                  </a:effectLst>
                  <a:latin typeface="+mn-lt"/>
                </a:defRPr>
              </a:lvl4pPr>
              <a:lvl5pPr marL="2068513" indent="-284163" algn="l" rtl="0" eaLnBrk="0" fontAlgn="base" hangingPunct="0">
                <a:spcBef>
                  <a:spcPct val="20000"/>
                </a:spcBef>
                <a:spcAft>
                  <a:spcPct val="0"/>
                </a:spcAft>
                <a:buClr>
                  <a:srgbClr val="CC6600"/>
                </a:buClr>
                <a:buSzPct val="65000"/>
                <a:buFont typeface="Wingdings 3" pitchFamily="18" charset="2"/>
                <a:buChar char="u"/>
                <a:defRPr lang="en-US" dirty="0">
                  <a:solidFill>
                    <a:srgbClr val="006666"/>
                  </a:solidFill>
                  <a:effectLst>
                    <a:outerShdw blurRad="38100" dist="38100" dir="2700000" algn="tl">
                      <a:srgbClr val="C0C0C0"/>
                    </a:outerShdw>
                  </a:effectLst>
                  <a:latin typeface="+mn-lt"/>
                </a:defRPr>
              </a:lvl5pPr>
              <a:lvl6pPr marL="2692400" indent="-290513" algn="l" rtl="0" fontAlgn="base">
                <a:spcBef>
                  <a:spcPct val="20000"/>
                </a:spcBef>
                <a:spcAft>
                  <a:spcPct val="0"/>
                </a:spcAft>
                <a:buClr>
                  <a:srgbClr val="CC6C18"/>
                </a:buClr>
                <a:buFont typeface="Arial" charset="0"/>
                <a:buChar char="»"/>
                <a:defRPr sz="2000">
                  <a:solidFill>
                    <a:srgbClr val="216471"/>
                  </a:solidFill>
                  <a:latin typeface="+mn-lt"/>
                </a:defRPr>
              </a:lvl6pPr>
              <a:lvl7pPr marL="3149600" indent="-290513" algn="l" rtl="0" fontAlgn="base">
                <a:spcBef>
                  <a:spcPct val="20000"/>
                </a:spcBef>
                <a:spcAft>
                  <a:spcPct val="0"/>
                </a:spcAft>
                <a:buClr>
                  <a:srgbClr val="CC6C18"/>
                </a:buClr>
                <a:buFont typeface="Arial" charset="0"/>
                <a:buChar char="»"/>
                <a:defRPr sz="2000">
                  <a:solidFill>
                    <a:srgbClr val="216471"/>
                  </a:solidFill>
                  <a:latin typeface="+mn-lt"/>
                </a:defRPr>
              </a:lvl7pPr>
              <a:lvl8pPr marL="3606800" indent="-290513" algn="l" rtl="0" fontAlgn="base">
                <a:spcBef>
                  <a:spcPct val="20000"/>
                </a:spcBef>
                <a:spcAft>
                  <a:spcPct val="0"/>
                </a:spcAft>
                <a:buClr>
                  <a:srgbClr val="CC6C18"/>
                </a:buClr>
                <a:buFont typeface="Arial" charset="0"/>
                <a:buChar char="»"/>
                <a:defRPr sz="2000">
                  <a:solidFill>
                    <a:srgbClr val="216471"/>
                  </a:solidFill>
                  <a:latin typeface="+mn-lt"/>
                </a:defRPr>
              </a:lvl8pPr>
              <a:lvl9pPr marL="4064000" indent="-290513" algn="l" rtl="0" fontAlgn="base">
                <a:spcBef>
                  <a:spcPct val="20000"/>
                </a:spcBef>
                <a:spcAft>
                  <a:spcPct val="0"/>
                </a:spcAft>
                <a:buClr>
                  <a:srgbClr val="CC6C18"/>
                </a:buClr>
                <a:buFont typeface="Arial" charset="0"/>
                <a:buChar char="»"/>
                <a:defRPr sz="2000">
                  <a:solidFill>
                    <a:srgbClr val="216471"/>
                  </a:solidFill>
                  <a:latin typeface="+mn-lt"/>
                </a:defRPr>
              </a:lvl9pPr>
            </a:lstStyle>
            <a:p>
              <a:pPr marL="403225" marR="0" lvl="1" indent="0" algn="l" defTabSz="914400" rtl="0" eaLnBrk="0" fontAlgn="base" latinLnBrk="0" hangingPunct="0">
                <a:lnSpc>
                  <a:spcPct val="100000"/>
                </a:lnSpc>
                <a:spcBef>
                  <a:spcPct val="20000"/>
                </a:spcBef>
                <a:spcAft>
                  <a:spcPct val="0"/>
                </a:spcAft>
                <a:buClrTx/>
                <a:buSzPct val="80000"/>
                <a:buFont typeface="Arial" charset="0"/>
                <a:buNone/>
                <a:tabLst/>
                <a:defRPr/>
              </a:pPr>
              <a:r>
                <a:rPr kumimoji="0" lang="en-US" sz="1600" b="1" i="0" u="sng" strike="noStrike" kern="0" cap="none" spc="0" normalizeH="0" baseline="0" noProof="0" dirty="0">
                  <a:ln>
                    <a:noFill/>
                  </a:ln>
                  <a:solidFill>
                    <a:srgbClr val="006666"/>
                  </a:solidFill>
                  <a:effectLst/>
                  <a:uLnTx/>
                  <a:uFillTx/>
                  <a:latin typeface="Arial"/>
                </a:rPr>
                <a:t>Valuable</a:t>
              </a:r>
              <a:r>
                <a:rPr kumimoji="0" lang="en-US" sz="1600" b="1" i="0" u="none" strike="noStrike" kern="0" cap="none" spc="0" normalizeH="0" baseline="0" noProof="0" dirty="0">
                  <a:ln>
                    <a:noFill/>
                  </a:ln>
                  <a:solidFill>
                    <a:srgbClr val="006666"/>
                  </a:solidFill>
                  <a:effectLst/>
                  <a:uLnTx/>
                  <a:uFillTx/>
                  <a:latin typeface="Arial"/>
                </a:rPr>
                <a:t>        </a:t>
              </a:r>
              <a:r>
                <a:rPr kumimoji="0" lang="en-US" sz="1600" b="1" i="0" u="sng" strike="noStrike" kern="0" cap="none" spc="0" normalizeH="0" baseline="0" noProof="0" dirty="0">
                  <a:ln>
                    <a:noFill/>
                  </a:ln>
                  <a:solidFill>
                    <a:srgbClr val="006666"/>
                  </a:solidFill>
                  <a:effectLst/>
                  <a:uLnTx/>
                  <a:uFillTx/>
                  <a:latin typeface="Arial"/>
                </a:rPr>
                <a:t>Rare</a:t>
              </a:r>
              <a:r>
                <a:rPr kumimoji="0" lang="en-US" sz="1600" b="1" i="0" u="none" strike="noStrike" kern="0" cap="none" spc="0" normalizeH="0" baseline="0" noProof="0" dirty="0">
                  <a:ln>
                    <a:noFill/>
                  </a:ln>
                  <a:solidFill>
                    <a:srgbClr val="006666"/>
                  </a:solidFill>
                  <a:effectLst/>
                  <a:uLnTx/>
                  <a:uFillTx/>
                  <a:latin typeface="Arial"/>
                </a:rPr>
                <a:t>      </a:t>
              </a:r>
              <a:r>
                <a:rPr kumimoji="0" lang="en-US" sz="1600" b="1" i="0" u="sng" strike="noStrike" kern="0" cap="none" spc="0" normalizeH="0" baseline="0" noProof="0" dirty="0">
                  <a:ln>
                    <a:noFill/>
                  </a:ln>
                  <a:solidFill>
                    <a:srgbClr val="006666"/>
                  </a:solidFill>
                  <a:effectLst/>
                  <a:uLnTx/>
                  <a:uFillTx/>
                  <a:latin typeface="Arial"/>
                </a:rPr>
                <a:t>Inimitable</a:t>
              </a:r>
              <a:r>
                <a:rPr kumimoji="0" lang="en-US" sz="1600" b="1" i="0" u="none" strike="noStrike" kern="0" cap="none" spc="0" normalizeH="0" baseline="0" noProof="0" dirty="0">
                  <a:ln>
                    <a:noFill/>
                  </a:ln>
                  <a:solidFill>
                    <a:srgbClr val="006666"/>
                  </a:solidFill>
                  <a:effectLst/>
                  <a:uLnTx/>
                  <a:uFillTx/>
                  <a:latin typeface="Arial"/>
                </a:rPr>
                <a:t>     </a:t>
              </a:r>
              <a:r>
                <a:rPr kumimoji="0" lang="en-US" sz="1600" b="1" i="0" u="sng" strike="noStrike" kern="0" cap="none" spc="0" normalizeH="0" baseline="0" noProof="0" dirty="0">
                  <a:ln>
                    <a:noFill/>
                  </a:ln>
                  <a:solidFill>
                    <a:srgbClr val="006666"/>
                  </a:solidFill>
                  <a:effectLst/>
                  <a:uLnTx/>
                  <a:uFillTx/>
                  <a:latin typeface="Arial"/>
                </a:rPr>
                <a:t>Nonsubstitutable</a:t>
              </a:r>
            </a:p>
          </p:txBody>
        </p:sp>
      </p:grpSp>
      <p:pic>
        <p:nvPicPr>
          <p:cNvPr id="28" name="Picture 27">
            <a:extLst>
              <a:ext uri="{FF2B5EF4-FFF2-40B4-BE49-F238E27FC236}">
                <a16:creationId xmlns:a16="http://schemas.microsoft.com/office/drawing/2014/main" id="{86710583-8C5D-4DE7-A220-C0970A5D983E}"/>
              </a:ext>
            </a:extLst>
          </p:cNvPr>
          <p:cNvPicPr>
            <a:picLocks noChangeAspect="1"/>
          </p:cNvPicPr>
          <p:nvPr/>
        </p:nvPicPr>
        <p:blipFill>
          <a:blip r:embed="rId2"/>
          <a:stretch>
            <a:fillRect/>
          </a:stretch>
        </p:blipFill>
        <p:spPr>
          <a:xfrm>
            <a:off x="6145580" y="5449118"/>
            <a:ext cx="3014563" cy="1144456"/>
          </a:xfrm>
          <a:prstGeom prst="rect">
            <a:avLst/>
          </a:prstGeom>
        </p:spPr>
      </p:pic>
      <p:sp>
        <p:nvSpPr>
          <p:cNvPr id="29" name="TextBox 28">
            <a:extLst>
              <a:ext uri="{FF2B5EF4-FFF2-40B4-BE49-F238E27FC236}">
                <a16:creationId xmlns:a16="http://schemas.microsoft.com/office/drawing/2014/main" id="{E1AF4E2F-CCF6-499A-9B64-41B0B4222C50}"/>
              </a:ext>
            </a:extLst>
          </p:cNvPr>
          <p:cNvSpPr txBox="1"/>
          <p:nvPr/>
        </p:nvSpPr>
        <p:spPr>
          <a:xfrm>
            <a:off x="9423932" y="5698181"/>
            <a:ext cx="2213113" cy="646331"/>
          </a:xfrm>
          <a:prstGeom prst="rect">
            <a:avLst/>
          </a:prstGeom>
          <a:noFill/>
        </p:spPr>
        <p:txBody>
          <a:bodyPr wrap="square" rtlCol="0">
            <a:spAutoFit/>
          </a:bodyPr>
          <a:lstStyle/>
          <a:p>
            <a:r>
              <a:rPr lang="en-US" dirty="0"/>
              <a:t>See Text Ch 4</a:t>
            </a:r>
          </a:p>
          <a:p>
            <a:r>
              <a:rPr lang="en-US" dirty="0"/>
              <a:t>for more information</a:t>
            </a:r>
          </a:p>
        </p:txBody>
      </p:sp>
      <p:sp>
        <p:nvSpPr>
          <p:cNvPr id="30" name="TextBox 29">
            <a:extLst>
              <a:ext uri="{FF2B5EF4-FFF2-40B4-BE49-F238E27FC236}">
                <a16:creationId xmlns:a16="http://schemas.microsoft.com/office/drawing/2014/main" id="{C020FCC9-A22B-4AF4-9055-6E43DC1E880A}"/>
              </a:ext>
            </a:extLst>
          </p:cNvPr>
          <p:cNvSpPr txBox="1"/>
          <p:nvPr/>
        </p:nvSpPr>
        <p:spPr>
          <a:xfrm>
            <a:off x="76019" y="5377268"/>
            <a:ext cx="5708094" cy="1384995"/>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p>
            <a:r>
              <a:rPr lang="en-US" sz="1200" dirty="0">
                <a:solidFill>
                  <a:srgbClr val="FF0000"/>
                </a:solidFill>
              </a:rPr>
              <a:t>Note to Students: </a:t>
            </a:r>
          </a:p>
          <a:p>
            <a:r>
              <a:rPr lang="en-US" sz="1200" dirty="0">
                <a:solidFill>
                  <a:srgbClr val="FF0000"/>
                </a:solidFill>
              </a:rPr>
              <a:t>The VRIN Test helps us answer: Does the company have enough of the right resources and capabilities to give them a </a:t>
            </a:r>
            <a:r>
              <a:rPr lang="en-US" sz="1200" u="sng" dirty="0">
                <a:solidFill>
                  <a:srgbClr val="FF0000"/>
                </a:solidFill>
              </a:rPr>
              <a:t>sustainable</a:t>
            </a:r>
            <a:r>
              <a:rPr lang="en-US" sz="1200" dirty="0">
                <a:solidFill>
                  <a:srgbClr val="FF0000"/>
                </a:solidFill>
              </a:rPr>
              <a:t> </a:t>
            </a:r>
            <a:r>
              <a:rPr lang="en-US" sz="1200" u="sng" dirty="0">
                <a:solidFill>
                  <a:srgbClr val="FF0000"/>
                </a:solidFill>
              </a:rPr>
              <a:t>competitive advantage</a:t>
            </a:r>
            <a:r>
              <a:rPr lang="en-US" sz="1200" dirty="0">
                <a:solidFill>
                  <a:srgbClr val="FF0000"/>
                </a:solidFill>
              </a:rPr>
              <a:t>?  The idea is to answer “Yes” or “No” under each question (Valuable?, Rare?, Inimitable? </a:t>
            </a:r>
            <a:r>
              <a:rPr lang="en-US" sz="1200" dirty="0" err="1">
                <a:solidFill>
                  <a:srgbClr val="FF0000"/>
                </a:solidFill>
              </a:rPr>
              <a:t>Nonsubsitutable</a:t>
            </a:r>
            <a:r>
              <a:rPr lang="en-US" sz="1200" dirty="0">
                <a:solidFill>
                  <a:srgbClr val="FF0000"/>
                </a:solidFill>
              </a:rPr>
              <a:t>?).  Mr. Liddle created the system of Green, Red, Gray faces to = “Yes”, “No” or “Maybe”. This example shows 4 Competitive Assets.  Most companies have many.  Pick some of the key assets to support your assessment.</a:t>
            </a:r>
          </a:p>
        </p:txBody>
      </p:sp>
      <p:sp>
        <p:nvSpPr>
          <p:cNvPr id="31" name="Smiley Face 30">
            <a:extLst>
              <a:ext uri="{FF2B5EF4-FFF2-40B4-BE49-F238E27FC236}">
                <a16:creationId xmlns:a16="http://schemas.microsoft.com/office/drawing/2014/main" id="{21168178-DCF6-427A-8BE1-2816295E0792}"/>
              </a:ext>
            </a:extLst>
          </p:cNvPr>
          <p:cNvSpPr/>
          <p:nvPr/>
        </p:nvSpPr>
        <p:spPr bwMode="auto">
          <a:xfrm>
            <a:off x="9459640" y="4578301"/>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32" name="Smiley Face 31">
            <a:extLst>
              <a:ext uri="{FF2B5EF4-FFF2-40B4-BE49-F238E27FC236}">
                <a16:creationId xmlns:a16="http://schemas.microsoft.com/office/drawing/2014/main" id="{351936A6-001A-4348-BC8B-2EDD0CAA5904}"/>
              </a:ext>
            </a:extLst>
          </p:cNvPr>
          <p:cNvSpPr/>
          <p:nvPr/>
        </p:nvSpPr>
        <p:spPr bwMode="auto">
          <a:xfrm>
            <a:off x="8255926" y="4578301"/>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33" name="Smiley Face 32">
            <a:extLst>
              <a:ext uri="{FF2B5EF4-FFF2-40B4-BE49-F238E27FC236}">
                <a16:creationId xmlns:a16="http://schemas.microsoft.com/office/drawing/2014/main" id="{2C59272B-2B98-409C-A62E-98A4F45F721A}"/>
              </a:ext>
            </a:extLst>
          </p:cNvPr>
          <p:cNvSpPr/>
          <p:nvPr/>
        </p:nvSpPr>
        <p:spPr bwMode="auto">
          <a:xfrm>
            <a:off x="7184073" y="4581312"/>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34" name="Smiley Face 33">
            <a:extLst>
              <a:ext uri="{FF2B5EF4-FFF2-40B4-BE49-F238E27FC236}">
                <a16:creationId xmlns:a16="http://schemas.microsoft.com/office/drawing/2014/main" id="{3B03F04C-D1CF-4007-872B-F423B41D6C49}"/>
              </a:ext>
            </a:extLst>
          </p:cNvPr>
          <p:cNvSpPr/>
          <p:nvPr/>
        </p:nvSpPr>
        <p:spPr bwMode="auto">
          <a:xfrm>
            <a:off x="6020644" y="4580888"/>
            <a:ext cx="545690" cy="461666"/>
          </a:xfrm>
          <a:prstGeom prst="smileyFace">
            <a:avLst>
              <a:gd name="adj" fmla="val 47"/>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800000"/>
              </a:buClr>
              <a:buSzTx/>
              <a:buFont typeface="Wingdings" pitchFamily="2" charset="2"/>
              <a:buNone/>
              <a:tabLst/>
            </a:pPr>
            <a:endParaRPr kumimoji="0" lang="en-US" sz="2600" b="0" i="0" u="none" strike="noStrike" cap="none" normalizeH="0" baseline="0">
              <a:ln>
                <a:noFill/>
              </a:ln>
              <a:solidFill>
                <a:schemeClr val="tx1"/>
              </a:solidFill>
              <a:effectLst/>
              <a:latin typeface="Arial" charset="0"/>
            </a:endParaRPr>
          </a:p>
        </p:txBody>
      </p:sp>
      <p:sp>
        <p:nvSpPr>
          <p:cNvPr id="35" name="TextBox 34">
            <a:extLst>
              <a:ext uri="{FF2B5EF4-FFF2-40B4-BE49-F238E27FC236}">
                <a16:creationId xmlns:a16="http://schemas.microsoft.com/office/drawing/2014/main" id="{C53A9E40-7D61-4772-9946-61BC33AB3DC3}"/>
              </a:ext>
            </a:extLst>
          </p:cNvPr>
          <p:cNvSpPr txBox="1"/>
          <p:nvPr/>
        </p:nvSpPr>
        <p:spPr>
          <a:xfrm>
            <a:off x="5671705" y="1736042"/>
            <a:ext cx="2338397" cy="307777"/>
          </a:xfrm>
          <a:prstGeom prst="rect">
            <a:avLst/>
          </a:prstGeom>
          <a:noFill/>
        </p:spPr>
        <p:txBody>
          <a:bodyPr wrap="square" rtlCol="0">
            <a:spAutoFit/>
          </a:bodyPr>
          <a:lstStyle/>
          <a:p>
            <a:pPr algn="ctr"/>
            <a:r>
              <a:rPr lang="en-US" sz="1400" b="1" dirty="0">
                <a:solidFill>
                  <a:srgbClr val="FF0000"/>
                </a:solidFill>
              </a:rPr>
              <a:t>--Competitive Advantage--</a:t>
            </a:r>
          </a:p>
        </p:txBody>
      </p:sp>
      <p:sp>
        <p:nvSpPr>
          <p:cNvPr id="36" name="TextBox 35">
            <a:extLst>
              <a:ext uri="{FF2B5EF4-FFF2-40B4-BE49-F238E27FC236}">
                <a16:creationId xmlns:a16="http://schemas.microsoft.com/office/drawing/2014/main" id="{0D7EE626-2A32-47D2-B275-35032B7A7D4F}"/>
              </a:ext>
            </a:extLst>
          </p:cNvPr>
          <p:cNvSpPr txBox="1"/>
          <p:nvPr/>
        </p:nvSpPr>
        <p:spPr>
          <a:xfrm>
            <a:off x="7967292" y="1727808"/>
            <a:ext cx="3004520" cy="307777"/>
          </a:xfrm>
          <a:prstGeom prst="rect">
            <a:avLst/>
          </a:prstGeom>
          <a:noFill/>
        </p:spPr>
        <p:txBody>
          <a:bodyPr wrap="square" rtlCol="0">
            <a:spAutoFit/>
          </a:bodyPr>
          <a:lstStyle/>
          <a:p>
            <a:r>
              <a:rPr lang="en-US" sz="1400" b="1" dirty="0">
                <a:solidFill>
                  <a:srgbClr val="FF0000"/>
                </a:solidFill>
              </a:rPr>
              <a:t>-----------------Sustainable ------------------</a:t>
            </a:r>
          </a:p>
        </p:txBody>
      </p:sp>
    </p:spTree>
    <p:extLst>
      <p:ext uri="{BB962C8B-B14F-4D97-AF65-F5344CB8AC3E}">
        <p14:creationId xmlns:p14="http://schemas.microsoft.com/office/powerpoint/2010/main" val="58557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31" grpId="0" animBg="1"/>
      <p:bldP spid="32" grpId="0" animBg="1"/>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90A7-B86C-459B-8F5F-D4E33C1D8757}"/>
              </a:ext>
            </a:extLst>
          </p:cNvPr>
          <p:cNvSpPr>
            <a:spLocks noGrp="1"/>
          </p:cNvSpPr>
          <p:nvPr>
            <p:ph type="title"/>
          </p:nvPr>
        </p:nvSpPr>
        <p:spPr>
          <a:xfrm>
            <a:off x="838200" y="365126"/>
            <a:ext cx="10515600" cy="493004"/>
          </a:xfrm>
        </p:spPr>
        <p:txBody>
          <a:bodyPr>
            <a:normAutofit fontScale="90000"/>
          </a:bodyPr>
          <a:lstStyle/>
          <a:p>
            <a:r>
              <a:rPr lang="en-US" dirty="0"/>
              <a:t>Internal Environment – SWOT</a:t>
            </a:r>
          </a:p>
        </p:txBody>
      </p:sp>
      <p:sp>
        <p:nvSpPr>
          <p:cNvPr id="6" name="TextBox 5">
            <a:extLst>
              <a:ext uri="{FF2B5EF4-FFF2-40B4-BE49-F238E27FC236}">
                <a16:creationId xmlns:a16="http://schemas.microsoft.com/office/drawing/2014/main" id="{21F1FE33-A172-44A9-A7B3-B559AA4D1186}"/>
              </a:ext>
            </a:extLst>
          </p:cNvPr>
          <p:cNvSpPr txBox="1"/>
          <p:nvPr/>
        </p:nvSpPr>
        <p:spPr>
          <a:xfrm>
            <a:off x="9395791" y="6169708"/>
            <a:ext cx="2213113" cy="646331"/>
          </a:xfrm>
          <a:prstGeom prst="rect">
            <a:avLst/>
          </a:prstGeom>
          <a:noFill/>
        </p:spPr>
        <p:txBody>
          <a:bodyPr wrap="square" rtlCol="0">
            <a:spAutoFit/>
          </a:bodyPr>
          <a:lstStyle/>
          <a:p>
            <a:r>
              <a:rPr lang="en-US" dirty="0"/>
              <a:t>See Text Ch 4</a:t>
            </a:r>
          </a:p>
          <a:p>
            <a:r>
              <a:rPr lang="en-US" dirty="0"/>
              <a:t>for more information</a:t>
            </a:r>
          </a:p>
        </p:txBody>
      </p:sp>
      <p:sp>
        <p:nvSpPr>
          <p:cNvPr id="7" name="TextBox 6">
            <a:extLst>
              <a:ext uri="{FF2B5EF4-FFF2-40B4-BE49-F238E27FC236}">
                <a16:creationId xmlns:a16="http://schemas.microsoft.com/office/drawing/2014/main" id="{D431904D-ADBC-45AA-B616-57CF70B20307}"/>
              </a:ext>
            </a:extLst>
          </p:cNvPr>
          <p:cNvSpPr txBox="1"/>
          <p:nvPr/>
        </p:nvSpPr>
        <p:spPr>
          <a:xfrm>
            <a:off x="583096" y="6016428"/>
            <a:ext cx="6443826" cy="738664"/>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Note to Students: SWOT helps us think through and list some significant Strengths, Weaknesses, Opportunities and Threats.  This can help us decide what strategic actions to take next or help us convince someone which actions we need to take next!</a:t>
            </a:r>
          </a:p>
        </p:txBody>
      </p:sp>
      <p:graphicFrame>
        <p:nvGraphicFramePr>
          <p:cNvPr id="3" name="Table 2">
            <a:extLst>
              <a:ext uri="{FF2B5EF4-FFF2-40B4-BE49-F238E27FC236}">
                <a16:creationId xmlns:a16="http://schemas.microsoft.com/office/drawing/2014/main" id="{A8971938-101D-44AE-B1E9-5B74A8042009}"/>
              </a:ext>
            </a:extLst>
          </p:cNvPr>
          <p:cNvGraphicFramePr>
            <a:graphicFrameLocks noGrp="1"/>
          </p:cNvGraphicFramePr>
          <p:nvPr/>
        </p:nvGraphicFramePr>
        <p:xfrm>
          <a:off x="1664325" y="1058216"/>
          <a:ext cx="8440258" cy="4741568"/>
        </p:xfrm>
        <a:graphic>
          <a:graphicData uri="http://schemas.openxmlformats.org/drawingml/2006/table">
            <a:tbl>
              <a:tblPr firstRow="1" bandRow="1">
                <a:tableStyleId>{5C22544A-7EE6-4342-B048-85BDC9FD1C3A}</a:tableStyleId>
              </a:tblPr>
              <a:tblGrid>
                <a:gridCol w="4220129">
                  <a:extLst>
                    <a:ext uri="{9D8B030D-6E8A-4147-A177-3AD203B41FA5}">
                      <a16:colId xmlns:a16="http://schemas.microsoft.com/office/drawing/2014/main" val="799758096"/>
                    </a:ext>
                  </a:extLst>
                </a:gridCol>
                <a:gridCol w="4220129">
                  <a:extLst>
                    <a:ext uri="{9D8B030D-6E8A-4147-A177-3AD203B41FA5}">
                      <a16:colId xmlns:a16="http://schemas.microsoft.com/office/drawing/2014/main" val="1537923540"/>
                    </a:ext>
                  </a:extLst>
                </a:gridCol>
              </a:tblGrid>
              <a:tr h="23707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STRENGTHS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Strength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Strength 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Strength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Strength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WEAKNESSES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Weakness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Weakness 2</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256907"/>
                  </a:ext>
                </a:extLst>
              </a:tr>
              <a:tr h="23707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effectLst/>
                        </a:rPr>
                        <a:t>OPPORTUNITIES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Opportunity 1</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effectLst/>
                        </a:rPr>
                        <a:t>THREATS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Threat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Threat 2</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203767"/>
                  </a:ext>
                </a:extLst>
              </a:tr>
            </a:tbl>
          </a:graphicData>
        </a:graphic>
      </p:graphicFrame>
    </p:spTree>
    <p:extLst>
      <p:ext uri="{BB962C8B-B14F-4D97-AF65-F5344CB8AC3E}">
        <p14:creationId xmlns:p14="http://schemas.microsoft.com/office/powerpoint/2010/main" val="3111836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90A7-B86C-459B-8F5F-D4E33C1D8757}"/>
              </a:ext>
            </a:extLst>
          </p:cNvPr>
          <p:cNvSpPr>
            <a:spLocks noGrp="1"/>
          </p:cNvSpPr>
          <p:nvPr>
            <p:ph type="title"/>
          </p:nvPr>
        </p:nvSpPr>
        <p:spPr>
          <a:xfrm>
            <a:off x="838200" y="365126"/>
            <a:ext cx="10515600" cy="493004"/>
          </a:xfrm>
        </p:spPr>
        <p:txBody>
          <a:bodyPr>
            <a:normAutofit fontScale="90000"/>
          </a:bodyPr>
          <a:lstStyle/>
          <a:p>
            <a:r>
              <a:rPr lang="en-US" dirty="0"/>
              <a:t>Internal Environment – Competitive Strength Assessment</a:t>
            </a:r>
          </a:p>
        </p:txBody>
      </p:sp>
      <p:sp>
        <p:nvSpPr>
          <p:cNvPr id="6" name="TextBox 5">
            <a:extLst>
              <a:ext uri="{FF2B5EF4-FFF2-40B4-BE49-F238E27FC236}">
                <a16:creationId xmlns:a16="http://schemas.microsoft.com/office/drawing/2014/main" id="{21F1FE33-A172-44A9-A7B3-B559AA4D1186}"/>
              </a:ext>
            </a:extLst>
          </p:cNvPr>
          <p:cNvSpPr txBox="1"/>
          <p:nvPr/>
        </p:nvSpPr>
        <p:spPr>
          <a:xfrm>
            <a:off x="9329531" y="4947554"/>
            <a:ext cx="2213113" cy="646331"/>
          </a:xfrm>
          <a:prstGeom prst="rect">
            <a:avLst/>
          </a:prstGeom>
          <a:noFill/>
        </p:spPr>
        <p:txBody>
          <a:bodyPr wrap="square" rtlCol="0">
            <a:spAutoFit/>
          </a:bodyPr>
          <a:lstStyle/>
          <a:p>
            <a:r>
              <a:rPr lang="en-US" dirty="0"/>
              <a:t>See Text Ch 4</a:t>
            </a:r>
          </a:p>
          <a:p>
            <a:r>
              <a:rPr lang="en-US" dirty="0"/>
              <a:t>for more information</a:t>
            </a:r>
          </a:p>
        </p:txBody>
      </p:sp>
      <p:graphicFrame>
        <p:nvGraphicFramePr>
          <p:cNvPr id="8" name="Object 7">
            <a:extLst>
              <a:ext uri="{FF2B5EF4-FFF2-40B4-BE49-F238E27FC236}">
                <a16:creationId xmlns:a16="http://schemas.microsoft.com/office/drawing/2014/main" id="{220F8507-05F6-4339-93CB-6377E2F9BC2E}"/>
              </a:ext>
            </a:extLst>
          </p:cNvPr>
          <p:cNvGraphicFramePr>
            <a:graphicFrameLocks noChangeAspect="1"/>
          </p:cNvGraphicFramePr>
          <p:nvPr>
            <p:extLst>
              <p:ext uri="{D42A27DB-BD31-4B8C-83A1-F6EECF244321}">
                <p14:modId xmlns:p14="http://schemas.microsoft.com/office/powerpoint/2010/main" val="3890659266"/>
              </p:ext>
            </p:extLst>
          </p:nvPr>
        </p:nvGraphicFramePr>
        <p:xfrm>
          <a:off x="503685" y="2040835"/>
          <a:ext cx="10850115" cy="2290833"/>
        </p:xfrm>
        <a:graphic>
          <a:graphicData uri="http://schemas.openxmlformats.org/presentationml/2006/ole">
            <mc:AlternateContent xmlns:mc="http://schemas.openxmlformats.org/markup-compatibility/2006">
              <mc:Choice xmlns:v="urn:schemas-microsoft-com:vml" Requires="v">
                <p:oleObj name="Worksheet" r:id="rId2" imgW="9067803" imgH="1914637" progId="Excel.Sheet.12">
                  <p:embed/>
                </p:oleObj>
              </mc:Choice>
              <mc:Fallback>
                <p:oleObj name="Worksheet" r:id="rId2" imgW="9067803" imgH="1914637" progId="Excel.Sheet.12">
                  <p:embed/>
                  <p:pic>
                    <p:nvPicPr>
                      <p:cNvPr id="8" name="Object 7">
                        <a:extLst>
                          <a:ext uri="{FF2B5EF4-FFF2-40B4-BE49-F238E27FC236}">
                            <a16:creationId xmlns:a16="http://schemas.microsoft.com/office/drawing/2014/main" id="{220F8507-05F6-4339-93CB-6377E2F9BC2E}"/>
                          </a:ext>
                        </a:extLst>
                      </p:cNvPr>
                      <p:cNvPicPr/>
                      <p:nvPr/>
                    </p:nvPicPr>
                    <p:blipFill>
                      <a:blip r:embed="rId3"/>
                      <a:stretch>
                        <a:fillRect/>
                      </a:stretch>
                    </p:blipFill>
                    <p:spPr>
                      <a:xfrm>
                        <a:off x="503685" y="2040835"/>
                        <a:ext cx="10850115" cy="2290833"/>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57176DF0-3017-45B7-B820-37E81049494D}"/>
              </a:ext>
            </a:extLst>
          </p:cNvPr>
          <p:cNvSpPr txBox="1"/>
          <p:nvPr/>
        </p:nvSpPr>
        <p:spPr>
          <a:xfrm rot="18790004">
            <a:off x="3812018" y="2405104"/>
            <a:ext cx="4233445" cy="1569660"/>
          </a:xfrm>
          <a:prstGeom prst="rect">
            <a:avLst/>
          </a:prstGeom>
          <a:noFill/>
        </p:spPr>
        <p:txBody>
          <a:bodyPr wrap="square" rtlCol="0">
            <a:spAutoFit/>
          </a:bodyPr>
          <a:lstStyle/>
          <a:p>
            <a:r>
              <a:rPr lang="en-US" sz="3200" b="1" dirty="0">
                <a:solidFill>
                  <a:srgbClr val="FF0000"/>
                </a:solidFill>
              </a:rPr>
              <a:t>See Excel file to modify this table for your companies</a:t>
            </a:r>
          </a:p>
        </p:txBody>
      </p:sp>
      <p:sp>
        <p:nvSpPr>
          <p:cNvPr id="10" name="TextBox 9">
            <a:extLst>
              <a:ext uri="{FF2B5EF4-FFF2-40B4-BE49-F238E27FC236}">
                <a16:creationId xmlns:a16="http://schemas.microsoft.com/office/drawing/2014/main" id="{FCAC1081-E1DC-4D91-BA5C-1CFFD43D0001}"/>
              </a:ext>
            </a:extLst>
          </p:cNvPr>
          <p:cNvSpPr txBox="1"/>
          <p:nvPr/>
        </p:nvSpPr>
        <p:spPr>
          <a:xfrm>
            <a:off x="172817" y="5922207"/>
            <a:ext cx="5445154" cy="523220"/>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Note to students: CSA helps us determine who our strongest competitors are and in which key success factor areas we are weakest.</a:t>
            </a:r>
          </a:p>
        </p:txBody>
      </p:sp>
    </p:spTree>
    <p:extLst>
      <p:ext uri="{BB962C8B-B14F-4D97-AF65-F5344CB8AC3E}">
        <p14:creationId xmlns:p14="http://schemas.microsoft.com/office/powerpoint/2010/main" val="745718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849B-DCFE-EC9E-558F-48F97D40AB7C}"/>
              </a:ext>
            </a:extLst>
          </p:cNvPr>
          <p:cNvSpPr>
            <a:spLocks noGrp="1"/>
          </p:cNvSpPr>
          <p:nvPr>
            <p:ph type="title"/>
          </p:nvPr>
        </p:nvSpPr>
        <p:spPr>
          <a:xfrm>
            <a:off x="649355" y="92813"/>
            <a:ext cx="11208027" cy="1325563"/>
          </a:xfrm>
        </p:spPr>
        <p:txBody>
          <a:bodyPr/>
          <a:lstStyle/>
          <a:p>
            <a:r>
              <a:rPr lang="en-US" dirty="0"/>
              <a:t>5 Components of Corporate Social Responsibility</a:t>
            </a:r>
          </a:p>
        </p:txBody>
      </p:sp>
      <p:sp>
        <p:nvSpPr>
          <p:cNvPr id="4" name="TextBox 3">
            <a:extLst>
              <a:ext uri="{FF2B5EF4-FFF2-40B4-BE49-F238E27FC236}">
                <a16:creationId xmlns:a16="http://schemas.microsoft.com/office/drawing/2014/main" id="{EDDA5CD2-7E12-81AF-11D7-E940A01674B0}"/>
              </a:ext>
            </a:extLst>
          </p:cNvPr>
          <p:cNvSpPr txBox="1"/>
          <p:nvPr/>
        </p:nvSpPr>
        <p:spPr>
          <a:xfrm>
            <a:off x="830411" y="3740877"/>
            <a:ext cx="2213113" cy="646331"/>
          </a:xfrm>
          <a:prstGeom prst="rect">
            <a:avLst/>
          </a:prstGeom>
          <a:noFill/>
        </p:spPr>
        <p:txBody>
          <a:bodyPr wrap="square" rtlCol="0">
            <a:spAutoFit/>
          </a:bodyPr>
          <a:lstStyle/>
          <a:p>
            <a:r>
              <a:rPr lang="en-US" dirty="0"/>
              <a:t>See text Ch 9 for more information</a:t>
            </a:r>
          </a:p>
        </p:txBody>
      </p:sp>
      <p:pic>
        <p:nvPicPr>
          <p:cNvPr id="7" name="Picture 6">
            <a:extLst>
              <a:ext uri="{FF2B5EF4-FFF2-40B4-BE49-F238E27FC236}">
                <a16:creationId xmlns:a16="http://schemas.microsoft.com/office/drawing/2014/main" id="{01C180F4-93D7-8561-2037-66A2740CFB3A}"/>
              </a:ext>
            </a:extLst>
          </p:cNvPr>
          <p:cNvPicPr>
            <a:picLocks noChangeAspect="1"/>
          </p:cNvPicPr>
          <p:nvPr/>
        </p:nvPicPr>
        <p:blipFill>
          <a:blip r:embed="rId2"/>
          <a:stretch>
            <a:fillRect/>
          </a:stretch>
        </p:blipFill>
        <p:spPr>
          <a:xfrm>
            <a:off x="61042" y="1089886"/>
            <a:ext cx="3252988" cy="2630544"/>
          </a:xfrm>
          <a:prstGeom prst="rect">
            <a:avLst/>
          </a:prstGeom>
        </p:spPr>
      </p:pic>
      <p:graphicFrame>
        <p:nvGraphicFramePr>
          <p:cNvPr id="8" name="Table 5">
            <a:extLst>
              <a:ext uri="{FF2B5EF4-FFF2-40B4-BE49-F238E27FC236}">
                <a16:creationId xmlns:a16="http://schemas.microsoft.com/office/drawing/2014/main" id="{7736BE60-F642-C5B9-F563-529729625D99}"/>
              </a:ext>
            </a:extLst>
          </p:cNvPr>
          <p:cNvGraphicFramePr>
            <a:graphicFrameLocks noGrp="1"/>
          </p:cNvGraphicFramePr>
          <p:nvPr>
            <p:extLst>
              <p:ext uri="{D42A27DB-BD31-4B8C-83A1-F6EECF244321}">
                <p14:modId xmlns:p14="http://schemas.microsoft.com/office/powerpoint/2010/main" val="2646058608"/>
              </p:ext>
            </p:extLst>
          </p:nvPr>
        </p:nvGraphicFramePr>
        <p:xfrm>
          <a:off x="3463756" y="1251965"/>
          <a:ext cx="7423983" cy="3178664"/>
        </p:xfrm>
        <a:graphic>
          <a:graphicData uri="http://schemas.openxmlformats.org/drawingml/2006/table">
            <a:tbl>
              <a:tblPr firstRow="1" bandRow="1">
                <a:tableStyleId>{F5AB1C69-6EDB-4FF4-983F-18BD219EF322}</a:tableStyleId>
              </a:tblPr>
              <a:tblGrid>
                <a:gridCol w="1890435">
                  <a:extLst>
                    <a:ext uri="{9D8B030D-6E8A-4147-A177-3AD203B41FA5}">
                      <a16:colId xmlns:a16="http://schemas.microsoft.com/office/drawing/2014/main" val="2961622684"/>
                    </a:ext>
                  </a:extLst>
                </a:gridCol>
                <a:gridCol w="4124354">
                  <a:extLst>
                    <a:ext uri="{9D8B030D-6E8A-4147-A177-3AD203B41FA5}">
                      <a16:colId xmlns:a16="http://schemas.microsoft.com/office/drawing/2014/main" val="3222256834"/>
                    </a:ext>
                  </a:extLst>
                </a:gridCol>
                <a:gridCol w="1409194">
                  <a:extLst>
                    <a:ext uri="{9D8B030D-6E8A-4147-A177-3AD203B41FA5}">
                      <a16:colId xmlns:a16="http://schemas.microsoft.com/office/drawing/2014/main" val="3607023757"/>
                    </a:ext>
                  </a:extLst>
                </a:gridCol>
              </a:tblGrid>
              <a:tr h="417721">
                <a:tc>
                  <a:txBody>
                    <a:bodyPr/>
                    <a:lstStyle/>
                    <a:p>
                      <a:pPr algn="ctr"/>
                      <a:r>
                        <a:rPr lang="en-US" sz="1400" dirty="0"/>
                        <a:t>Key CSR Action Description</a:t>
                      </a:r>
                    </a:p>
                  </a:txBody>
                  <a:tcPr/>
                </a:tc>
                <a:tc>
                  <a:txBody>
                    <a:bodyPr/>
                    <a:lstStyle/>
                    <a:p>
                      <a:pPr algn="ctr"/>
                      <a:r>
                        <a:rPr lang="en-US" sz="1400" dirty="0"/>
                        <a:t>Specific Actions Observed</a:t>
                      </a:r>
                    </a:p>
                  </a:txBody>
                  <a:tcPr/>
                </a:tc>
                <a:tc>
                  <a:txBody>
                    <a:bodyPr/>
                    <a:lstStyle/>
                    <a:p>
                      <a:pPr algn="ctr"/>
                      <a:r>
                        <a:rPr lang="en-US" sz="1200" dirty="0"/>
                        <a:t>Stakeholder(s) that Most Benefit by These Actions</a:t>
                      </a:r>
                    </a:p>
                  </a:txBody>
                  <a:tcPr/>
                </a:tc>
                <a:extLst>
                  <a:ext uri="{0D108BD9-81ED-4DB2-BD59-A6C34878D82A}">
                    <a16:rowId xmlns:a16="http://schemas.microsoft.com/office/drawing/2014/main" val="970776394"/>
                  </a:ext>
                </a:extLst>
              </a:tr>
              <a:tr h="446332">
                <a:tc>
                  <a:txBody>
                    <a:bodyPr/>
                    <a:lstStyle/>
                    <a:p>
                      <a:r>
                        <a:rPr lang="en-US" sz="1000" dirty="0"/>
                        <a:t>Ensure the company operates honorably and ethically</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tc>
                  <a:txBody>
                    <a:bodyPr/>
                    <a:lstStyle/>
                    <a:p>
                      <a:pPr marL="171450" indent="-171450">
                        <a:buFont typeface="Arial" panose="020B0604020202020204" pitchFamily="34" charset="0"/>
                        <a:buChar char="•"/>
                      </a:pPr>
                      <a:r>
                        <a:rPr lang="en-US" sz="1000" dirty="0"/>
                        <a:t>Stakeholder 1</a:t>
                      </a:r>
                    </a:p>
                  </a:txBody>
                  <a:tcPr/>
                </a:tc>
                <a:extLst>
                  <a:ext uri="{0D108BD9-81ED-4DB2-BD59-A6C34878D82A}">
                    <a16:rowId xmlns:a16="http://schemas.microsoft.com/office/drawing/2014/main" val="368745422"/>
                  </a:ext>
                </a:extLst>
              </a:tr>
              <a:tr h="417721">
                <a:tc>
                  <a:txBody>
                    <a:bodyPr/>
                    <a:lstStyle/>
                    <a:p>
                      <a:r>
                        <a:rPr lang="en-US" sz="1000" dirty="0"/>
                        <a:t>Support philanthropy, community service, and better quality of life worldwide</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tc>
                  <a:txBody>
                    <a:bodyPr/>
                    <a:lstStyle/>
                    <a:p>
                      <a:pPr marL="171450" indent="-171450">
                        <a:buFont typeface="Arial" panose="020B0604020202020204" pitchFamily="34" charset="0"/>
                        <a:buChar char="•"/>
                      </a:pPr>
                      <a:r>
                        <a:rPr lang="en-US" sz="1000" dirty="0"/>
                        <a:t>Stakeholder 1</a:t>
                      </a:r>
                    </a:p>
                    <a:p>
                      <a:pPr marL="171450" indent="-171450">
                        <a:buFont typeface="Arial" panose="020B0604020202020204" pitchFamily="34" charset="0"/>
                        <a:buChar char="•"/>
                      </a:pPr>
                      <a:r>
                        <a:rPr lang="en-US" sz="1000" dirty="0"/>
                        <a:t>Stakeholder 2</a:t>
                      </a:r>
                    </a:p>
                  </a:txBody>
                  <a:tcPr/>
                </a:tc>
                <a:extLst>
                  <a:ext uri="{0D108BD9-81ED-4DB2-BD59-A6C34878D82A}">
                    <a16:rowId xmlns:a16="http://schemas.microsoft.com/office/drawing/2014/main" val="4055847915"/>
                  </a:ext>
                </a:extLst>
              </a:tr>
              <a:tr h="417721">
                <a:tc>
                  <a:txBody>
                    <a:bodyPr/>
                    <a:lstStyle/>
                    <a:p>
                      <a:r>
                        <a:rPr lang="en-US" sz="1000" dirty="0"/>
                        <a:t>Protect and sustain the environment</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p>
                      <a:pPr marL="171450" indent="-171450">
                        <a:buFont typeface="Arial" panose="020B0604020202020204" pitchFamily="34" charset="0"/>
                        <a:buChar char="•"/>
                      </a:pPr>
                      <a:r>
                        <a:rPr lang="en-US" sz="1000" dirty="0"/>
                        <a:t>Action 3</a:t>
                      </a:r>
                    </a:p>
                  </a:txBody>
                  <a:tcPr/>
                </a:tc>
                <a:tc>
                  <a:txBody>
                    <a:bodyPr/>
                    <a:lstStyle/>
                    <a:p>
                      <a:pPr marL="171450" indent="-171450">
                        <a:buFont typeface="Arial" panose="020B0604020202020204" pitchFamily="34" charset="0"/>
                        <a:buChar char="•"/>
                      </a:pPr>
                      <a:r>
                        <a:rPr lang="en-US" sz="1000" dirty="0"/>
                        <a:t>Stakeholder 1</a:t>
                      </a:r>
                    </a:p>
                  </a:txBody>
                  <a:tcPr/>
                </a:tc>
                <a:extLst>
                  <a:ext uri="{0D108BD9-81ED-4DB2-BD59-A6C34878D82A}">
                    <a16:rowId xmlns:a16="http://schemas.microsoft.com/office/drawing/2014/main" val="409437967"/>
                  </a:ext>
                </a:extLst>
              </a:tr>
              <a:tr h="446332">
                <a:tc>
                  <a:txBody>
                    <a:bodyPr/>
                    <a:lstStyle/>
                    <a:p>
                      <a:r>
                        <a:rPr lang="en-US" sz="1000" dirty="0"/>
                        <a:t>Enhance employee well-being and make the company a great place to work</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tc>
                  <a:txBody>
                    <a:bodyPr/>
                    <a:lstStyle/>
                    <a:p>
                      <a:pPr marL="171450" indent="-171450">
                        <a:buFont typeface="Arial" panose="020B0604020202020204" pitchFamily="34" charset="0"/>
                        <a:buChar char="•"/>
                      </a:pPr>
                      <a:r>
                        <a:rPr lang="en-US" sz="1000" dirty="0"/>
                        <a:t>Stakeholder 1</a:t>
                      </a:r>
                    </a:p>
                    <a:p>
                      <a:pPr marL="171450" indent="-171450">
                        <a:buFont typeface="Arial" panose="020B0604020202020204" pitchFamily="34" charset="0"/>
                        <a:buChar char="•"/>
                      </a:pPr>
                      <a:r>
                        <a:rPr lang="en-US" sz="1000" dirty="0"/>
                        <a:t>Stakeholder 2</a:t>
                      </a:r>
                    </a:p>
                  </a:txBody>
                  <a:tcPr/>
                </a:tc>
                <a:extLst>
                  <a:ext uri="{0D108BD9-81ED-4DB2-BD59-A6C34878D82A}">
                    <a16:rowId xmlns:a16="http://schemas.microsoft.com/office/drawing/2014/main" val="3771025195"/>
                  </a:ext>
                </a:extLst>
              </a:tr>
              <a:tr h="446332">
                <a:tc>
                  <a:txBody>
                    <a:bodyPr/>
                    <a:lstStyle/>
                    <a:p>
                      <a:r>
                        <a:rPr lang="en-US" sz="1000" dirty="0"/>
                        <a:t>Promote workforce diversity, equity and inclusion (DEI)</a:t>
                      </a:r>
                    </a:p>
                  </a:txBody>
                  <a:tcPr/>
                </a:tc>
                <a:tc>
                  <a:txBody>
                    <a:bodyPr/>
                    <a:lstStyle/>
                    <a:p>
                      <a:pPr marL="171450" indent="-171450">
                        <a:buFont typeface="Arial" panose="020B0604020202020204" pitchFamily="34" charset="0"/>
                        <a:buChar char="•"/>
                      </a:pPr>
                      <a:r>
                        <a:rPr lang="en-US" sz="1000" dirty="0"/>
                        <a:t>Action 1</a:t>
                      </a:r>
                    </a:p>
                    <a:p>
                      <a:pPr marL="171450" indent="-171450">
                        <a:buFont typeface="Arial" panose="020B0604020202020204" pitchFamily="34" charset="0"/>
                        <a:buChar char="•"/>
                      </a:pPr>
                      <a:r>
                        <a:rPr lang="en-US" sz="1000" dirty="0"/>
                        <a:t>Action 2</a:t>
                      </a:r>
                    </a:p>
                  </a:txBody>
                  <a:tcPr/>
                </a:tc>
                <a:tc>
                  <a:txBody>
                    <a:bodyPr/>
                    <a:lstStyle/>
                    <a:p>
                      <a:pPr marL="171450" indent="-171450">
                        <a:buFont typeface="Arial" panose="020B0604020202020204" pitchFamily="34" charset="0"/>
                        <a:buChar char="•"/>
                      </a:pPr>
                      <a:r>
                        <a:rPr lang="en-US" sz="1000" dirty="0"/>
                        <a:t>Stakeholder 1</a:t>
                      </a:r>
                    </a:p>
                    <a:p>
                      <a:pPr marL="171450" indent="-171450">
                        <a:buFont typeface="Arial" panose="020B0604020202020204" pitchFamily="34" charset="0"/>
                        <a:buChar char="•"/>
                      </a:pPr>
                      <a:r>
                        <a:rPr lang="en-US" sz="1000" dirty="0"/>
                        <a:t>Stakeholder 2</a:t>
                      </a:r>
                    </a:p>
                  </a:txBody>
                  <a:tcPr/>
                </a:tc>
                <a:extLst>
                  <a:ext uri="{0D108BD9-81ED-4DB2-BD59-A6C34878D82A}">
                    <a16:rowId xmlns:a16="http://schemas.microsoft.com/office/drawing/2014/main" val="2577478666"/>
                  </a:ext>
                </a:extLst>
              </a:tr>
            </a:tbl>
          </a:graphicData>
        </a:graphic>
      </p:graphicFrame>
      <p:sp>
        <p:nvSpPr>
          <p:cNvPr id="9" name="TextBox 8">
            <a:extLst>
              <a:ext uri="{FF2B5EF4-FFF2-40B4-BE49-F238E27FC236}">
                <a16:creationId xmlns:a16="http://schemas.microsoft.com/office/drawing/2014/main" id="{7C806ECF-0DDE-0E09-2096-FEB76F8EFC7D}"/>
              </a:ext>
            </a:extLst>
          </p:cNvPr>
          <p:cNvSpPr txBox="1"/>
          <p:nvPr/>
        </p:nvSpPr>
        <p:spPr>
          <a:xfrm>
            <a:off x="8659036" y="4890951"/>
            <a:ext cx="3287600" cy="1754326"/>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Typical Stakeholders of a Firm that you may consider for the 3</a:t>
            </a:r>
            <a:r>
              <a:rPr lang="en-US" baseline="30000" dirty="0"/>
              <a:t>rd</a:t>
            </a:r>
            <a:r>
              <a:rPr lang="en-US" dirty="0"/>
              <a:t> column above (You may a different or more specific stakeholder):</a:t>
            </a:r>
          </a:p>
          <a:p>
            <a:pPr marL="171450" indent="-171450">
              <a:buFont typeface="Arial" panose="020B0604020202020204" pitchFamily="34" charset="0"/>
              <a:buChar char="•"/>
            </a:pPr>
            <a:r>
              <a:rPr lang="en-US" dirty="0">
                <a:solidFill>
                  <a:schemeClr val="tx1"/>
                </a:solidFill>
              </a:rPr>
              <a:t>Owners/Shareholders</a:t>
            </a:r>
          </a:p>
          <a:p>
            <a:pPr marL="171450" indent="-171450">
              <a:buFont typeface="Arial" panose="020B0604020202020204" pitchFamily="34" charset="0"/>
              <a:buChar char="•"/>
            </a:pPr>
            <a:r>
              <a:rPr lang="en-US" dirty="0">
                <a:solidFill>
                  <a:schemeClr val="tx1"/>
                </a:solidFill>
              </a:rPr>
              <a:t>Employees</a:t>
            </a:r>
          </a:p>
          <a:p>
            <a:pPr marL="171450" indent="-171450">
              <a:buFont typeface="Arial" panose="020B0604020202020204" pitchFamily="34" charset="0"/>
              <a:buChar char="•"/>
            </a:pPr>
            <a:r>
              <a:rPr lang="en-US" dirty="0">
                <a:solidFill>
                  <a:schemeClr val="tx1"/>
                </a:solidFill>
              </a:rPr>
              <a:t>Customers</a:t>
            </a:r>
          </a:p>
          <a:p>
            <a:pPr marL="171450" indent="-171450">
              <a:buFont typeface="Arial" panose="020B0604020202020204" pitchFamily="34" charset="0"/>
              <a:buChar char="•"/>
            </a:pPr>
            <a:r>
              <a:rPr lang="en-US" dirty="0">
                <a:solidFill>
                  <a:schemeClr val="tx1"/>
                </a:solidFill>
              </a:rPr>
              <a:t>Suppliers</a:t>
            </a:r>
          </a:p>
          <a:p>
            <a:pPr marL="171450" indent="-171450">
              <a:buFont typeface="Arial" panose="020B0604020202020204" pitchFamily="34" charset="0"/>
              <a:buChar char="•"/>
            </a:pPr>
            <a:r>
              <a:rPr lang="en-US" dirty="0">
                <a:solidFill>
                  <a:schemeClr val="tx1"/>
                </a:solidFill>
              </a:rPr>
              <a:t>Communities</a:t>
            </a:r>
          </a:p>
          <a:p>
            <a:pPr marL="171450" indent="-171450">
              <a:buFont typeface="Arial" panose="020B0604020202020204" pitchFamily="34" charset="0"/>
              <a:buChar char="•"/>
            </a:pPr>
            <a:r>
              <a:rPr lang="en-US" dirty="0">
                <a:solidFill>
                  <a:schemeClr val="tx1"/>
                </a:solidFill>
              </a:rPr>
              <a:t>Others</a:t>
            </a:r>
          </a:p>
        </p:txBody>
      </p:sp>
      <p:sp>
        <p:nvSpPr>
          <p:cNvPr id="11" name="TextBox 10">
            <a:extLst>
              <a:ext uri="{FF2B5EF4-FFF2-40B4-BE49-F238E27FC236}">
                <a16:creationId xmlns:a16="http://schemas.microsoft.com/office/drawing/2014/main" id="{AA065905-0CE6-CBE1-7522-2F4D57E63DB1}"/>
              </a:ext>
            </a:extLst>
          </p:cNvPr>
          <p:cNvSpPr txBox="1"/>
          <p:nvPr/>
        </p:nvSpPr>
        <p:spPr>
          <a:xfrm>
            <a:off x="545274" y="5075616"/>
            <a:ext cx="5708094" cy="1015663"/>
          </a:xfrm>
          <a:prstGeom prst="rect">
            <a:avLst/>
          </a:prstGeom>
          <a:solidFill>
            <a:schemeClr val="bg1"/>
          </a:solidFill>
          <a:ln>
            <a:solidFill>
              <a:schemeClr val="accent1">
                <a:shade val="15000"/>
              </a:schemeClr>
            </a:solidFill>
          </a:ln>
          <a:effectLst>
            <a:outerShdw blurRad="50800" dist="38100" dir="2700000" algn="tl" rotWithShape="0">
              <a:prstClr val="black">
                <a:alpha val="40000"/>
              </a:prstClr>
            </a:outerShdw>
          </a:effectLst>
        </p:spPr>
        <p:txBody>
          <a:bodyPr wrap="square" rtlCol="0">
            <a:spAutoFit/>
          </a:bodyPr>
          <a:lstStyle>
            <a:defPPr>
              <a:defRPr lang="en-US"/>
            </a:defPPr>
            <a:lvl1pPr>
              <a:defRPr sz="1200">
                <a:solidFill>
                  <a:srgbClr val="FF0000"/>
                </a:solidFill>
              </a:defRPr>
            </a:lvl1pPr>
          </a:lstStyle>
          <a:p>
            <a:r>
              <a:rPr lang="en-US" dirty="0"/>
              <a:t>Note to Students: </a:t>
            </a:r>
          </a:p>
          <a:p>
            <a:r>
              <a:rPr lang="en-US" dirty="0"/>
              <a:t>Use this table to identify some of the key CSR actions that you observe the company is taking.  It is likely that all stakeholders benefit in some way from CSR actions the firm takes, but please identify the Stakeholder(s) that most acutely benefit from the actions you identify.  (Put this stakeholder(s) in the last column)   </a:t>
            </a:r>
          </a:p>
        </p:txBody>
      </p:sp>
      <p:sp>
        <p:nvSpPr>
          <p:cNvPr id="13" name="Star: 5 Points 12">
            <a:extLst>
              <a:ext uri="{FF2B5EF4-FFF2-40B4-BE49-F238E27FC236}">
                <a16:creationId xmlns:a16="http://schemas.microsoft.com/office/drawing/2014/main" id="{232E7CDD-EE6B-92DD-8C02-5B9B03A384BB}"/>
              </a:ext>
            </a:extLst>
          </p:cNvPr>
          <p:cNvSpPr/>
          <p:nvPr/>
        </p:nvSpPr>
        <p:spPr>
          <a:xfrm>
            <a:off x="10884582" y="1136751"/>
            <a:ext cx="246888" cy="32849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tar: 5 Points 13">
            <a:extLst>
              <a:ext uri="{FF2B5EF4-FFF2-40B4-BE49-F238E27FC236}">
                <a16:creationId xmlns:a16="http://schemas.microsoft.com/office/drawing/2014/main" id="{2ACBC7B0-5848-1343-EFD1-2DD7BEC48313}"/>
              </a:ext>
            </a:extLst>
          </p:cNvPr>
          <p:cNvSpPr/>
          <p:nvPr/>
        </p:nvSpPr>
        <p:spPr>
          <a:xfrm>
            <a:off x="8452964" y="4890951"/>
            <a:ext cx="246888" cy="32849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4904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TotalTime>
  <Words>975</Words>
  <Application>Microsoft Office PowerPoint</Application>
  <PresentationFormat>Widescreen</PresentationFormat>
  <Paragraphs>162</Paragraphs>
  <Slides>10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6" baseType="lpstr">
      <vt:lpstr>Arial</vt:lpstr>
      <vt:lpstr>Calibri</vt:lpstr>
      <vt:lpstr>Calibri Light</vt:lpstr>
      <vt:lpstr>Wingdings</vt:lpstr>
      <vt:lpstr>Office Theme</vt:lpstr>
      <vt:lpstr>Worksheet</vt:lpstr>
      <vt:lpstr>Analytic Framework  Templates</vt:lpstr>
      <vt:lpstr>Recommendations</vt:lpstr>
      <vt:lpstr>Generic Strategy Type- Cameras &amp; Drones</vt:lpstr>
      <vt:lpstr>Identifying a Company’s Strategy-What to Look For</vt:lpstr>
      <vt:lpstr>Immediate External Environment – Five Force Model</vt:lpstr>
      <vt:lpstr>Macro External Environment – PESTEL Model</vt:lpstr>
      <vt:lpstr>Internal Environment- Resources &amp; Capabilities</vt:lpstr>
      <vt:lpstr>Internal Environment – SWOT</vt:lpstr>
      <vt:lpstr>Internal Environment – Competitive Strength Assessment</vt:lpstr>
      <vt:lpstr>5 Components of Corporate Social Responsibility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Glo-bus Portfolio</dc:title>
  <dc:creator>Mr. Jim Liddle</dc:creator>
  <cp:lastModifiedBy>Mr. Jim Liddle</cp:lastModifiedBy>
  <cp:revision>49</cp:revision>
  <dcterms:created xsi:type="dcterms:W3CDTF">2021-10-21T18:13:24Z</dcterms:created>
  <dcterms:modified xsi:type="dcterms:W3CDTF">2024-10-23T20:11:32Z</dcterms:modified>
</cp:coreProperties>
</file>